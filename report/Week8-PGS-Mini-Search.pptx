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4f650b-11b7-d960-29b9-1d7b4f9116dd}">
          <p14:sldIdLst>
            <p14:sldId id="256"/>
            <p14:sldId id="257"/>
          </p14:sldIdLst>
        </p14:section>
        <p14:section name="Data and method" id="{b0dcae94-2ba5-49d4-8029-ef955ec977a3}">
          <p14:sldIdLst>
            <p14:sldId id="258"/>
            <p14:sldId id="259"/>
            <p14:sldId id="260"/>
          </p14:sldIdLst>
        </p14:section>
        <p14:section name="Evaluation" id="{513e7152-012c-e67d-714d-2ea8d980f099}">
          <p14:sldIdLst>
            <p14:sldId id="261"/>
            <p14:sldId id="262"/>
          </p14:sldIdLst>
        </p14:section>
        <p14:section name="Findings" id="{5a604f29-b617-dee6-19a2-7380e005fe10}">
          <p14:sldIdLst>
            <p14:sldId id="263"/>
            <p14:sldId id="264"/>
            <p14:sldId id="265"/>
          </p14:sldIdLst>
        </p14:section>
        <p14:section name="Conclusion" id="{65f10b9e-2cde-78d7-2161-d5c6f93e1cf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MAP</c:v>
                </c:pt>
              </c:strCache>
            </c:strRef>
          </c:tx>
          <c:spPr>
            <a:solidFill>
              <a:srgbClr val="1F5FA8"/>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Boolean</c:v>
                  </c:pt>
                  <c:pt idx="1">
                    <c:v>TF-IDF</c:v>
                  </c:pt>
                  <c:pt idx="2">
                    <c:v>BM25F</c:v>
                  </c:pt>
                  <c:pt idx="3">
                    <c:v>TF-IDF +exp</c:v>
                  </c:pt>
                  <c:pt idx="4">
                    <c:v>BM25F +exp</c:v>
                  </c:pt>
                  <c:pt idx="5">
                    <c:v>Hybrid +exp</c:v>
                  </c:pt>
                  <c:pt idx="6">
                    <c:v>BM25F +exp tuned</c:v>
                  </c:pt>
                </c:lvl>
              </c:multiLvlStrCache>
            </c:multiLvlStrRef>
          </c:cat>
          <c:val>
            <c:numRef>
              <c:f>Sheet1!$B$2:$B$8</c:f>
              <c:numCache>
                <c:formatCode>General</c:formatCode>
                <c:ptCount val="7"/>
                <c:pt idx="0">
                  <c:v>0.622</c:v>
                </c:pt>
                <c:pt idx="1">
                  <c:v>0.652</c:v>
                </c:pt>
                <c:pt idx="2">
                  <c:v>0.643</c:v>
                </c:pt>
                <c:pt idx="3">
                  <c:v>0.789</c:v>
                </c:pt>
                <c:pt idx="4">
                  <c:v>0.803</c:v>
                </c:pt>
                <c:pt idx="5">
                  <c:v>0.811</c:v>
                </c:pt>
                <c:pt idx="6">
                  <c:v>0.865</c:v>
                </c:pt>
              </c:numCache>
            </c:numRef>
          </c:val>
        </c:ser>
        <c:ser>
          <c:idx val="1"/>
          <c:order val="1"/>
          <c:tx>
            <c:strRef>
              <c:f>Sheet1!$C$1</c:f>
              <c:strCache>
                <c:ptCount val="1"/>
                <c:pt idx="0">
                  <c:v>nDCG@10</c:v>
                </c:pt>
              </c:strCache>
            </c:strRef>
          </c:tx>
          <c:spPr>
            <a:solidFill>
              <a:srgbClr val="C8102E"/>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Boolean</c:v>
                  </c:pt>
                  <c:pt idx="1">
                    <c:v>TF-IDF</c:v>
                  </c:pt>
                  <c:pt idx="2">
                    <c:v>BM25F</c:v>
                  </c:pt>
                  <c:pt idx="3">
                    <c:v>TF-IDF +exp</c:v>
                  </c:pt>
                  <c:pt idx="4">
                    <c:v>BM25F +exp</c:v>
                  </c:pt>
                  <c:pt idx="5">
                    <c:v>Hybrid +exp</c:v>
                  </c:pt>
                  <c:pt idx="6">
                    <c:v>BM25F +exp tuned</c:v>
                  </c:pt>
                </c:lvl>
              </c:multiLvlStrCache>
            </c:multiLvlStrRef>
          </c:cat>
          <c:val>
            <c:numRef>
              <c:f>Sheet1!$C$2:$C$8</c:f>
              <c:numCache>
                <c:formatCode>General</c:formatCode>
                <c:ptCount val="7"/>
                <c:pt idx="0">
                  <c:v>0.657</c:v>
                </c:pt>
                <c:pt idx="1">
                  <c:v>0.682</c:v>
                </c:pt>
                <c:pt idx="2">
                  <c:v>0.691</c:v>
                </c:pt>
                <c:pt idx="3">
                  <c:v>0.813</c:v>
                </c:pt>
                <c:pt idx="4">
                  <c:v>0.837</c:v>
                </c:pt>
                <c:pt idx="5">
                  <c:v>0.835</c:v>
                </c:pt>
                <c:pt idx="6">
                  <c:v>0.889</c:v>
                </c:pt>
              </c:numCache>
            </c:numRef>
          </c:val>
        </c:ser>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small version of our team's PGS Search Engine, built in Week 6 and evaluated in Week 7. This talk covers the problem, the data, the method, the evaluation, the findings and what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build and evaluate a retrieval system that handles both languages, place-based queries, website names written as one word, and spelling variants of romanised Nepali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public: the place list comes from the local-states-nepal dataset and the website list is the crawl list of PGS. Each website, local government, district and province is one document. The correct answers for testing come from the data itself, so they are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preprocessing runs on documents and queries. Word segmentation splits website names. The Nepali stemmer strips postpositions such as ko and ma. Query processing corrects spelling with character trigrams and translates place names and common words between English and Nepali.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is the exact-match baseline. TF-IDF and BM25F are the ranked models from the lectures. The hybrid fuses BM25F and TF-IDF by rank. Each ranked model was tested with and without query expansion, giving eight runs in total with the tuned and no-segmentation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answers come from the data's metadata, so no manual labelling was needed. nDCG uses the grades; the other measures count only grade 2. The significance test checks that differences are not chance. Tuning on one half and testing on the other avoids overfitting to the test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raises MAP from 0.643 to 0.803. The tuned run is best on almost every measure. Precision at 10 is low for all runs only because most queries have one or two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Expansion is the most valuable component. Tuning BM25 gives a further real gain on queries it never saw. Fusion helps at the very top of the list. And the small TF-IDF versus BM25F difference from Week 6 is not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an English query with a typo. Pokhra is corrected to Pokhara, news is expanded to samachar and khabar, and Pokhara's news sites come first. Right: a Nepali query meaning local governments of Kaski; it returns Kaski's municipalities.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problem is ranking, not finding. Failures have clear causes: dropping a letter from a short name breaks trigram matching, and translating news into samachar pulls in the wrong sites. The template queries favour exact matching, so real user queries may give lower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answers a finding: the tuning result, the two failure causes, and the limitation of template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bilingual IR system on the PGS project's data, evaluated with 11 measures and significance tests. Query expansion and BM25 tuning are the key results. The code and both reports are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Title</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r>
              <a:rPr lang="en-US" sz="1800" dirty="0">
                <a:solidFill>
                  <a:schemeClr val="bg2"/>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Title</a:t>
            </a: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Prijesh77/pgs-ir-assignment" TargetMode="External"/><Relationship Id="rId1"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PGS Mini Search</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1800" dirty="0">
                <a:solidFill>
                  <a:schemeClr val="bg2"/>
                </a:solidFill>
              </a:rPr>
              <a:t>A bilingual information retrieval system for Nepal’s public web: findings from Weeks 6 and 7</a:t>
            </a:r>
            <a:endParaRPr lang="en-US" sz="1800" dirty="0"/>
          </a:p>
        </p:txBody>
      </p:sp>
      <p:sp>
        <p:nvSpPr>
          <p:cNvPr id="4" name="Logo circle"/>
          <p:cNvSpPr/>
          <p:nvPr/>
        </p:nvSpPr>
        <p:spPr>
          <a:xfrm>
            <a:off x="548640" y="502920"/>
            <a:ext cx="731520" cy="731520"/>
          </a:xfrm>
          <a:prstGeom prst="ellipse">
            <a:avLst/>
          </a:prstGeom>
          <a:solidFill>
            <a:schemeClr val="accent1"/>
          </a:solidFill>
          <a:ln/>
        </p:spPr>
      </p:sp>
      <p:pic>
        <p:nvPicPr>
          <p:cNvPr id="5" name="Logo icon" descr="preencoded.png">    </p:cNvPr>
          <p:cNvPicPr>
            <a:picLocks noChangeAspect="1"/>
          </p:cNvPicPr>
          <p:nvPr/>
        </p:nvPicPr>
        <p:blipFill>
          <a:blip r:embed="rId1"/>
          <a:stretch>
            <a:fillRect/>
          </a:stretch>
        </p:blipFill>
        <p:spPr>
          <a:xfrm>
            <a:off x="731520" y="685800"/>
            <a:ext cx="365760" cy="365760"/>
          </a:xfrm>
          <a:prstGeom prst="rect">
            <a:avLst/>
          </a:prstGeom>
        </p:spPr>
      </p:pic>
      <p:sp>
        <p:nvSpPr>
          <p:cNvPr id="6" name="Byline"/>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200" dirty="0">
                <a:solidFill>
                  <a:schemeClr val="bg2"/>
                </a:solidFill>
              </a:rPr>
              <a:t>Prijesh  ·  Week 8 Assignment  ·  github.com/Prijesh77/pgs-ir-assignment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Problem statement</a:t>
            </a:r>
            <a:endParaRPr lang="en-US" sz="3000" dirty="0"/>
          </a:p>
        </p:txBody>
      </p:sp>
      <p:sp>
        <p:nvSpPr>
          <p:cNvPr id="3" name="Lead"/>
          <p:cNvSpPr txBox="1"/>
          <p:nvPr/>
        </p:nvSpPr>
        <p:spPr>
          <a:xfrm>
            <a:off x="457200" y="1005840"/>
            <a:ext cx="8229600" cy="365760"/>
          </a:xfrm>
          <a:prstGeom prst="rect">
            <a:avLst/>
          </a:prstGeom>
          <a:noFill/>
          <a:ln/>
        </p:spPr>
        <p:txBody>
          <a:bodyPr wrap="square" lIns="0" tIns="0" rIns="0" bIns="0" rtlCol="0" anchor="t"/>
          <a:lstStyle/>
          <a:p>
            <a:pPr indent="0" marL="0">
              <a:buNone/>
            </a:pPr>
            <a:r>
              <a:rPr lang="en-US" sz="1600" i="1" dirty="0">
                <a:solidFill>
                  <a:schemeClr val="tx2"/>
                </a:solidFill>
              </a:rPr>
              <a:t>Searching Nepal’s web by place is hard for a standard search engine</a:t>
            </a:r>
            <a:endParaRPr lang="en-US" sz="1600" dirty="0"/>
          </a:p>
        </p:txBody>
      </p:sp>
      <p:sp>
        <p:nvSpPr>
          <p:cNvPr id="4" name="Problem 1 card"/>
          <p:cNvSpPr/>
          <p:nvPr/>
        </p:nvSpPr>
        <p:spPr>
          <a:xfrm>
            <a:off x="457200" y="1600200"/>
            <a:ext cx="4023360" cy="1371600"/>
          </a:xfrm>
          <a:prstGeom prst="roundRect">
            <a:avLst>
              <a:gd name="adj" fmla="val 5333"/>
            </a:avLst>
          </a:prstGeom>
          <a:solidFill>
            <a:schemeClr val="bg2"/>
          </a:solidFill>
          <a:ln/>
        </p:spPr>
      </p:sp>
      <p:sp>
        <p:nvSpPr>
          <p:cNvPr id="5" name="Problem 1 circle"/>
          <p:cNvSpPr/>
          <p:nvPr/>
        </p:nvSpPr>
        <p:spPr>
          <a:xfrm>
            <a:off x="685800" y="1874520"/>
            <a:ext cx="685800" cy="685800"/>
          </a:xfrm>
          <a:prstGeom prst="ellipse">
            <a:avLst/>
          </a:prstGeom>
          <a:solidFill>
            <a:schemeClr val="accent1"/>
          </a:solidFill>
          <a:ln/>
        </p:spPr>
      </p:sp>
      <p:pic>
        <p:nvPicPr>
          <p:cNvPr id="6" name="Problem 1 icon" descr="preencoded.png">    </p:cNvPr>
          <p:cNvPicPr>
            <a:picLocks noChangeAspect="1"/>
          </p:cNvPicPr>
          <p:nvPr/>
        </p:nvPicPr>
        <p:blipFill>
          <a:blip r:embed="rId1"/>
          <a:stretch>
            <a:fillRect/>
          </a:stretch>
        </p:blipFill>
        <p:spPr>
          <a:xfrm>
            <a:off x="857250" y="2045970"/>
            <a:ext cx="342900" cy="342900"/>
          </a:xfrm>
          <a:prstGeom prst="rect">
            <a:avLst/>
          </a:prstGeom>
        </p:spPr>
      </p:pic>
      <p:sp>
        <p:nvSpPr>
          <p:cNvPr id="7" name="Problem 1 title"/>
          <p:cNvSpPr txBox="1"/>
          <p:nvPr/>
        </p:nvSpPr>
        <p:spPr>
          <a:xfrm>
            <a:off x="1554480" y="1801368"/>
            <a:ext cx="2743200" cy="365760"/>
          </a:xfrm>
          <a:prstGeom prst="rect">
            <a:avLst/>
          </a:prstGeom>
          <a:noFill/>
          <a:ln/>
        </p:spPr>
        <p:txBody>
          <a:bodyPr wrap="square" lIns="0" tIns="0" rIns="0" bIns="0" rtlCol="0" anchor="t"/>
          <a:lstStyle/>
          <a:p>
            <a:pPr indent="0" marL="0">
              <a:buNone/>
            </a:pPr>
            <a:r>
              <a:rPr lang="en-US" sz="1700" b="1" dirty="0">
                <a:solidFill>
                  <a:schemeClr val="tx1"/>
                </a:solidFill>
              </a:rPr>
              <a:t>Two languages</a:t>
            </a:r>
            <a:endParaRPr lang="en-US" sz="1700" dirty="0"/>
          </a:p>
        </p:txBody>
      </p:sp>
      <p:sp>
        <p:nvSpPr>
          <p:cNvPr id="8" name="Problem 1 text"/>
          <p:cNvSpPr txBox="1"/>
          <p:nvPr/>
        </p:nvSpPr>
        <p:spPr>
          <a:xfrm>
            <a:off x="1554480" y="2167128"/>
            <a:ext cx="2743200" cy="731520"/>
          </a:xfrm>
          <a:prstGeom prst="rect">
            <a:avLst/>
          </a:prstGeom>
          <a:noFill/>
          <a:ln/>
        </p:spPr>
        <p:txBody>
          <a:bodyPr wrap="square" lIns="0" tIns="0" rIns="0" bIns="0" rtlCol="0" anchor="t"/>
          <a:lstStyle/>
          <a:p>
            <a:pPr indent="0" marL="0">
              <a:buNone/>
            </a:pPr>
            <a:r>
              <a:rPr lang="en-US" sz="1300" dirty="0">
                <a:solidFill>
                  <a:schemeClr val="tx2"/>
                </a:solidFill>
              </a:rPr>
              <a:t>Content and queries mix English and Nepali (Devanagari), e.g. Pokhara and पोखरा.</a:t>
            </a:r>
            <a:endParaRPr lang="en-US" sz="1300" dirty="0"/>
          </a:p>
        </p:txBody>
      </p:sp>
      <p:sp>
        <p:nvSpPr>
          <p:cNvPr id="9" name="Problem 2 card"/>
          <p:cNvSpPr/>
          <p:nvPr/>
        </p:nvSpPr>
        <p:spPr>
          <a:xfrm>
            <a:off x="4663440" y="1600200"/>
            <a:ext cx="4023360" cy="1371600"/>
          </a:xfrm>
          <a:prstGeom prst="roundRect">
            <a:avLst>
              <a:gd name="adj" fmla="val 5333"/>
            </a:avLst>
          </a:prstGeom>
          <a:solidFill>
            <a:schemeClr val="bg2"/>
          </a:solidFill>
          <a:ln/>
        </p:spPr>
      </p:sp>
      <p:sp>
        <p:nvSpPr>
          <p:cNvPr id="10" name="Problem 2 circle"/>
          <p:cNvSpPr/>
          <p:nvPr/>
        </p:nvSpPr>
        <p:spPr>
          <a:xfrm>
            <a:off x="4892040" y="1874520"/>
            <a:ext cx="685800" cy="685800"/>
          </a:xfrm>
          <a:prstGeom prst="ellipse">
            <a:avLst/>
          </a:prstGeom>
          <a:solidFill>
            <a:schemeClr val="accent1"/>
          </a:solidFill>
          <a:ln/>
        </p:spPr>
      </p:sp>
      <p:pic>
        <p:nvPicPr>
          <p:cNvPr id="11" name="Problem 2 icon" descr="preencoded.png">    </p:cNvPr>
          <p:cNvPicPr>
            <a:picLocks noChangeAspect="1"/>
          </p:cNvPicPr>
          <p:nvPr/>
        </p:nvPicPr>
        <p:blipFill>
          <a:blip r:embed="rId2"/>
          <a:stretch>
            <a:fillRect/>
          </a:stretch>
        </p:blipFill>
        <p:spPr>
          <a:xfrm>
            <a:off x="5063490" y="2045970"/>
            <a:ext cx="342900" cy="342900"/>
          </a:xfrm>
          <a:prstGeom prst="rect">
            <a:avLst/>
          </a:prstGeom>
        </p:spPr>
      </p:pic>
      <p:sp>
        <p:nvSpPr>
          <p:cNvPr id="12" name="Problem 2 title"/>
          <p:cNvSpPr txBox="1"/>
          <p:nvPr/>
        </p:nvSpPr>
        <p:spPr>
          <a:xfrm>
            <a:off x="5760720" y="1801368"/>
            <a:ext cx="2743200" cy="365760"/>
          </a:xfrm>
          <a:prstGeom prst="rect">
            <a:avLst/>
          </a:prstGeom>
          <a:noFill/>
          <a:ln/>
        </p:spPr>
        <p:txBody>
          <a:bodyPr wrap="square" lIns="0" tIns="0" rIns="0" bIns="0" rtlCol="0" anchor="t"/>
          <a:lstStyle/>
          <a:p>
            <a:pPr indent="0" marL="0">
              <a:buNone/>
            </a:pPr>
            <a:r>
              <a:rPr lang="en-US" sz="1700" b="1" dirty="0">
                <a:solidFill>
                  <a:schemeClr val="tx1"/>
                </a:solidFill>
              </a:rPr>
              <a:t>Place-based needs</a:t>
            </a:r>
            <a:endParaRPr lang="en-US" sz="1700" dirty="0"/>
          </a:p>
        </p:txBody>
      </p:sp>
      <p:sp>
        <p:nvSpPr>
          <p:cNvPr id="13" name="Problem 2 text"/>
          <p:cNvSpPr txBox="1"/>
          <p:nvPr/>
        </p:nvSpPr>
        <p:spPr>
          <a:xfrm>
            <a:off x="5760720" y="2167128"/>
            <a:ext cx="2743200" cy="731520"/>
          </a:xfrm>
          <a:prstGeom prst="rect">
            <a:avLst/>
          </a:prstGeom>
          <a:noFill/>
          <a:ln/>
        </p:spPr>
        <p:txBody>
          <a:bodyPr wrap="square" lIns="0" tIns="0" rIns="0" bIns="0" rtlCol="0" anchor="t"/>
          <a:lstStyle/>
          <a:p>
            <a:pPr indent="0" marL="0">
              <a:buNone/>
            </a:pPr>
            <a:r>
              <a:rPr lang="en-US" sz="1300" dirty="0">
                <a:solidFill>
                  <a:schemeClr val="tx2"/>
                </a:solidFill>
              </a:rPr>
              <a:t>People search by province, district and municipality, not just keywords.</a:t>
            </a:r>
            <a:endParaRPr lang="en-US" sz="1300" dirty="0"/>
          </a:p>
        </p:txBody>
      </p:sp>
      <p:sp>
        <p:nvSpPr>
          <p:cNvPr id="14" name="Problem 3 card"/>
          <p:cNvSpPr/>
          <p:nvPr/>
        </p:nvSpPr>
        <p:spPr>
          <a:xfrm>
            <a:off x="457200" y="3200400"/>
            <a:ext cx="4023360" cy="1371600"/>
          </a:xfrm>
          <a:prstGeom prst="roundRect">
            <a:avLst>
              <a:gd name="adj" fmla="val 5333"/>
            </a:avLst>
          </a:prstGeom>
          <a:solidFill>
            <a:schemeClr val="bg2"/>
          </a:solidFill>
          <a:ln/>
        </p:spPr>
      </p:sp>
      <p:sp>
        <p:nvSpPr>
          <p:cNvPr id="15" name="Problem 3 circle"/>
          <p:cNvSpPr/>
          <p:nvPr/>
        </p:nvSpPr>
        <p:spPr>
          <a:xfrm>
            <a:off x="685800" y="3474720"/>
            <a:ext cx="685800" cy="685800"/>
          </a:xfrm>
          <a:prstGeom prst="ellipse">
            <a:avLst/>
          </a:prstGeom>
          <a:solidFill>
            <a:schemeClr val="accent1"/>
          </a:solidFill>
          <a:ln/>
        </p:spPr>
      </p:sp>
      <p:pic>
        <p:nvPicPr>
          <p:cNvPr id="16" name="Problem 3 icon" descr="preencoded.png">    </p:cNvPr>
          <p:cNvPicPr>
            <a:picLocks noChangeAspect="1"/>
          </p:cNvPicPr>
          <p:nvPr/>
        </p:nvPicPr>
        <p:blipFill>
          <a:blip r:embed="rId3"/>
          <a:stretch>
            <a:fillRect/>
          </a:stretch>
        </p:blipFill>
        <p:spPr>
          <a:xfrm>
            <a:off x="857250" y="3646170"/>
            <a:ext cx="342900" cy="342900"/>
          </a:xfrm>
          <a:prstGeom prst="rect">
            <a:avLst/>
          </a:prstGeom>
        </p:spPr>
      </p:pic>
      <p:sp>
        <p:nvSpPr>
          <p:cNvPr id="17" name="Problem 3 title"/>
          <p:cNvSpPr txBox="1"/>
          <p:nvPr/>
        </p:nvSpPr>
        <p:spPr>
          <a:xfrm>
            <a:off x="1554480" y="3401568"/>
            <a:ext cx="2743200" cy="365760"/>
          </a:xfrm>
          <a:prstGeom prst="rect">
            <a:avLst/>
          </a:prstGeom>
          <a:noFill/>
          <a:ln/>
        </p:spPr>
        <p:txBody>
          <a:bodyPr wrap="square" lIns="0" tIns="0" rIns="0" bIns="0" rtlCol="0" anchor="t"/>
          <a:lstStyle/>
          <a:p>
            <a:pPr indent="0" marL="0">
              <a:buNone/>
            </a:pPr>
            <a:r>
              <a:rPr lang="en-US" sz="1700" b="1" dirty="0">
                <a:solidFill>
                  <a:schemeClr val="tx1"/>
                </a:solidFill>
              </a:rPr>
              <a:t>Joined web addresses</a:t>
            </a:r>
            <a:endParaRPr lang="en-US" sz="1700" dirty="0"/>
          </a:p>
        </p:txBody>
      </p:sp>
      <p:sp>
        <p:nvSpPr>
          <p:cNvPr id="18" name="Problem 3 text"/>
          <p:cNvSpPr txBox="1"/>
          <p:nvPr/>
        </p:nvSpPr>
        <p:spPr>
          <a:xfrm>
            <a:off x="1554480" y="3767328"/>
            <a:ext cx="2743200" cy="731520"/>
          </a:xfrm>
          <a:prstGeom prst="rect">
            <a:avLst/>
          </a:prstGeom>
          <a:noFill/>
          <a:ln/>
        </p:spPr>
        <p:txBody>
          <a:bodyPr wrap="square" lIns="0" tIns="0" rIns="0" bIns="0" rtlCol="0" anchor="t"/>
          <a:lstStyle/>
          <a:p>
            <a:pPr indent="0" marL="0">
              <a:buNone/>
            </a:pPr>
            <a:r>
              <a:rPr lang="en-US" sz="1300" dirty="0">
                <a:solidFill>
                  <a:schemeClr val="tx2"/>
                </a:solidFill>
              </a:rPr>
              <a:t>Site names are written as one word: onlinekhabar.com, pokharanews.com.</a:t>
            </a:r>
            <a:endParaRPr lang="en-US" sz="1300" dirty="0"/>
          </a:p>
        </p:txBody>
      </p:sp>
      <p:sp>
        <p:nvSpPr>
          <p:cNvPr id="19" name="Problem 4 card"/>
          <p:cNvSpPr/>
          <p:nvPr/>
        </p:nvSpPr>
        <p:spPr>
          <a:xfrm>
            <a:off x="4663440" y="3200400"/>
            <a:ext cx="4023360" cy="1371600"/>
          </a:xfrm>
          <a:prstGeom prst="roundRect">
            <a:avLst>
              <a:gd name="adj" fmla="val 5333"/>
            </a:avLst>
          </a:prstGeom>
          <a:solidFill>
            <a:schemeClr val="bg2"/>
          </a:solidFill>
          <a:ln/>
        </p:spPr>
      </p:sp>
      <p:sp>
        <p:nvSpPr>
          <p:cNvPr id="20" name="Problem 4 circle"/>
          <p:cNvSpPr/>
          <p:nvPr/>
        </p:nvSpPr>
        <p:spPr>
          <a:xfrm>
            <a:off x="4892040" y="3474720"/>
            <a:ext cx="685800" cy="685800"/>
          </a:xfrm>
          <a:prstGeom prst="ellipse">
            <a:avLst/>
          </a:prstGeom>
          <a:solidFill>
            <a:schemeClr val="accent1"/>
          </a:solidFill>
          <a:ln/>
        </p:spPr>
      </p:sp>
      <p:pic>
        <p:nvPicPr>
          <p:cNvPr id="21" name="Problem 4 icon" descr="preencoded.png">    </p:cNvPr>
          <p:cNvPicPr>
            <a:picLocks noChangeAspect="1"/>
          </p:cNvPicPr>
          <p:nvPr/>
        </p:nvPicPr>
        <p:blipFill>
          <a:blip r:embed="rId4"/>
          <a:stretch>
            <a:fillRect/>
          </a:stretch>
        </p:blipFill>
        <p:spPr>
          <a:xfrm>
            <a:off x="5063490" y="3646170"/>
            <a:ext cx="342900" cy="342900"/>
          </a:xfrm>
          <a:prstGeom prst="rect">
            <a:avLst/>
          </a:prstGeom>
        </p:spPr>
      </p:pic>
      <p:sp>
        <p:nvSpPr>
          <p:cNvPr id="22" name="Problem 4 title"/>
          <p:cNvSpPr txBox="1"/>
          <p:nvPr/>
        </p:nvSpPr>
        <p:spPr>
          <a:xfrm>
            <a:off x="5760720" y="3401568"/>
            <a:ext cx="2743200" cy="365760"/>
          </a:xfrm>
          <a:prstGeom prst="rect">
            <a:avLst/>
          </a:prstGeom>
          <a:noFill/>
          <a:ln/>
        </p:spPr>
        <p:txBody>
          <a:bodyPr wrap="square" lIns="0" tIns="0" rIns="0" bIns="0" rtlCol="0" anchor="t"/>
          <a:lstStyle/>
          <a:p>
            <a:pPr indent="0" marL="0">
              <a:buNone/>
            </a:pPr>
            <a:r>
              <a:rPr lang="en-US" sz="1700" b="1" dirty="0">
                <a:solidFill>
                  <a:schemeClr val="tx1"/>
                </a:solidFill>
              </a:rPr>
              <a:t>Spelling variants</a:t>
            </a:r>
            <a:endParaRPr lang="en-US" sz="1700" dirty="0"/>
          </a:p>
        </p:txBody>
      </p:sp>
      <p:sp>
        <p:nvSpPr>
          <p:cNvPr id="23" name="Problem 4 text"/>
          <p:cNvSpPr txBox="1"/>
          <p:nvPr/>
        </p:nvSpPr>
        <p:spPr>
          <a:xfrm>
            <a:off x="5760720" y="3767328"/>
            <a:ext cx="2743200" cy="731520"/>
          </a:xfrm>
          <a:prstGeom prst="rect">
            <a:avLst/>
          </a:prstGeom>
          <a:noFill/>
          <a:ln/>
        </p:spPr>
        <p:txBody>
          <a:bodyPr wrap="square" lIns="0" tIns="0" rIns="0" bIns="0" rtlCol="0" anchor="t"/>
          <a:lstStyle/>
          <a:p>
            <a:pPr indent="0" marL="0">
              <a:buNone/>
            </a:pPr>
            <a:r>
              <a:rPr lang="en-US" sz="1300" dirty="0">
                <a:solidFill>
                  <a:schemeClr val="tx2"/>
                </a:solidFill>
              </a:rPr>
              <a:t>Romanised names are spelt many ways: Pokhara, Pokhra, Pokara.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Dataset: the PGS project’s public seed data</a:t>
            </a:r>
            <a:endParaRPr lang="en-US" sz="3000" dirty="0"/>
          </a:p>
        </p:txBody>
      </p:sp>
      <p:sp>
        <p:nvSpPr>
          <p:cNvPr id="3" name="Stat 1 card"/>
          <p:cNvSpPr/>
          <p:nvPr/>
        </p:nvSpPr>
        <p:spPr>
          <a:xfrm>
            <a:off x="457200" y="1143000"/>
            <a:ext cx="1920240" cy="1325880"/>
          </a:xfrm>
          <a:prstGeom prst="roundRect">
            <a:avLst>
              <a:gd name="adj" fmla="val 5517"/>
            </a:avLst>
          </a:prstGeom>
          <a:solidFill>
            <a:schemeClr val="bg2"/>
          </a:solidFill>
          <a:ln/>
        </p:spPr>
      </p:sp>
      <p:sp>
        <p:nvSpPr>
          <p:cNvPr id="4" name="Stat 1 value"/>
          <p:cNvSpPr txBox="1"/>
          <p:nvPr/>
        </p:nvSpPr>
        <p:spPr>
          <a:xfrm>
            <a:off x="457200" y="1280160"/>
            <a:ext cx="1920240" cy="685800"/>
          </a:xfrm>
          <a:prstGeom prst="rect">
            <a:avLst/>
          </a:prstGeom>
          <a:noFill/>
          <a:ln/>
        </p:spPr>
        <p:txBody>
          <a:bodyPr wrap="square" lIns="0" tIns="0" rIns="0" bIns="0" rtlCol="0" anchor="t"/>
          <a:lstStyle/>
          <a:p>
            <a:pPr algn="ctr" indent="0" marL="0">
              <a:buNone/>
            </a:pPr>
            <a:r>
              <a:rPr lang="en-US" sz="3400" b="1" dirty="0">
                <a:solidFill>
                  <a:schemeClr val="accent1"/>
                </a:solidFill>
                <a:latin typeface="Cambria" pitchFamily="34" charset="0"/>
                <a:ea typeface="Cambria" pitchFamily="34" charset="-122"/>
                <a:cs typeface="Cambria" pitchFamily="34" charset="-120"/>
              </a:rPr>
              <a:t>9,842</a:t>
            </a:r>
            <a:endParaRPr lang="en-US" sz="3400" dirty="0"/>
          </a:p>
        </p:txBody>
      </p:sp>
      <p:sp>
        <p:nvSpPr>
          <p:cNvPr id="5" name="Stat 1 label"/>
          <p:cNvSpPr txBox="1"/>
          <p:nvPr/>
        </p:nvSpPr>
        <p:spPr>
          <a:xfrm>
            <a:off x="457200" y="1965960"/>
            <a:ext cx="1920240" cy="365760"/>
          </a:xfrm>
          <a:prstGeom prst="rect">
            <a:avLst/>
          </a:prstGeom>
          <a:noFill/>
          <a:ln/>
        </p:spPr>
        <p:txBody>
          <a:bodyPr wrap="square" lIns="0" tIns="0" rIns="0" bIns="0" rtlCol="0" anchor="t"/>
          <a:lstStyle/>
          <a:p>
            <a:pPr algn="ctr" indent="0" marL="0">
              <a:buNone/>
            </a:pPr>
            <a:r>
              <a:rPr lang="en-US" sz="1300" dirty="0">
                <a:solidFill>
                  <a:schemeClr val="tx2"/>
                </a:solidFill>
              </a:rPr>
              <a:t>documents</a:t>
            </a:r>
            <a:endParaRPr lang="en-US" sz="1300" dirty="0"/>
          </a:p>
        </p:txBody>
      </p:sp>
      <p:sp>
        <p:nvSpPr>
          <p:cNvPr id="6" name="Stat 2 card"/>
          <p:cNvSpPr/>
          <p:nvPr/>
        </p:nvSpPr>
        <p:spPr>
          <a:xfrm>
            <a:off x="2560320" y="1143000"/>
            <a:ext cx="1920240" cy="1325880"/>
          </a:xfrm>
          <a:prstGeom prst="roundRect">
            <a:avLst>
              <a:gd name="adj" fmla="val 5517"/>
            </a:avLst>
          </a:prstGeom>
          <a:solidFill>
            <a:schemeClr val="bg2"/>
          </a:solidFill>
          <a:ln/>
        </p:spPr>
      </p:sp>
      <p:sp>
        <p:nvSpPr>
          <p:cNvPr id="7" name="Stat 2 value"/>
          <p:cNvSpPr txBox="1"/>
          <p:nvPr/>
        </p:nvSpPr>
        <p:spPr>
          <a:xfrm>
            <a:off x="2560320" y="1280160"/>
            <a:ext cx="192024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9,005</a:t>
            </a:r>
            <a:endParaRPr lang="en-US" sz="3400" dirty="0"/>
          </a:p>
        </p:txBody>
      </p:sp>
      <p:sp>
        <p:nvSpPr>
          <p:cNvPr id="8" name="Stat 2 label"/>
          <p:cNvSpPr txBox="1"/>
          <p:nvPr/>
        </p:nvSpPr>
        <p:spPr>
          <a:xfrm>
            <a:off x="2560320" y="1965960"/>
            <a:ext cx="1920240" cy="365760"/>
          </a:xfrm>
          <a:prstGeom prst="rect">
            <a:avLst/>
          </a:prstGeom>
          <a:noFill/>
          <a:ln/>
        </p:spPr>
        <p:txBody>
          <a:bodyPr wrap="square" lIns="0" tIns="0" rIns="0" bIns="0" rtlCol="0" anchor="t"/>
          <a:lstStyle/>
          <a:p>
            <a:pPr algn="ctr" indent="0" marL="0">
              <a:buNone/>
            </a:pPr>
            <a:r>
              <a:rPr lang="en-US" sz="1300" dirty="0">
                <a:solidFill>
                  <a:schemeClr val="tx2"/>
                </a:solidFill>
              </a:rPr>
              <a:t>websites</a:t>
            </a:r>
            <a:endParaRPr lang="en-US" sz="1300" dirty="0"/>
          </a:p>
        </p:txBody>
      </p:sp>
      <p:sp>
        <p:nvSpPr>
          <p:cNvPr id="9" name="Stat 3 card"/>
          <p:cNvSpPr/>
          <p:nvPr/>
        </p:nvSpPr>
        <p:spPr>
          <a:xfrm>
            <a:off x="4663440" y="1143000"/>
            <a:ext cx="1920240" cy="1325880"/>
          </a:xfrm>
          <a:prstGeom prst="roundRect">
            <a:avLst>
              <a:gd name="adj" fmla="val 5517"/>
            </a:avLst>
          </a:prstGeom>
          <a:solidFill>
            <a:schemeClr val="bg2"/>
          </a:solidFill>
          <a:ln/>
        </p:spPr>
      </p:sp>
      <p:sp>
        <p:nvSpPr>
          <p:cNvPr id="10" name="Stat 3 value"/>
          <p:cNvSpPr txBox="1"/>
          <p:nvPr/>
        </p:nvSpPr>
        <p:spPr>
          <a:xfrm>
            <a:off x="4663440" y="1280160"/>
            <a:ext cx="192024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753</a:t>
            </a:r>
            <a:endParaRPr lang="en-US" sz="3400" dirty="0"/>
          </a:p>
        </p:txBody>
      </p:sp>
      <p:sp>
        <p:nvSpPr>
          <p:cNvPr id="11" name="Stat 3 label"/>
          <p:cNvSpPr txBox="1"/>
          <p:nvPr/>
        </p:nvSpPr>
        <p:spPr>
          <a:xfrm>
            <a:off x="4663440" y="1965960"/>
            <a:ext cx="1920240" cy="365760"/>
          </a:xfrm>
          <a:prstGeom prst="rect">
            <a:avLst/>
          </a:prstGeom>
          <a:noFill/>
          <a:ln/>
        </p:spPr>
        <p:txBody>
          <a:bodyPr wrap="square" lIns="0" tIns="0" rIns="0" bIns="0" rtlCol="0" anchor="t"/>
          <a:lstStyle/>
          <a:p>
            <a:pPr algn="ctr" indent="0" marL="0">
              <a:buNone/>
            </a:pPr>
            <a:r>
              <a:rPr lang="en-US" sz="1300" dirty="0">
                <a:solidFill>
                  <a:schemeClr val="tx2"/>
                </a:solidFill>
              </a:rPr>
              <a:t>local governments</a:t>
            </a:r>
            <a:endParaRPr lang="en-US" sz="1300" dirty="0"/>
          </a:p>
        </p:txBody>
      </p:sp>
      <p:sp>
        <p:nvSpPr>
          <p:cNvPr id="12" name="Stat 4 card"/>
          <p:cNvSpPr/>
          <p:nvPr/>
        </p:nvSpPr>
        <p:spPr>
          <a:xfrm>
            <a:off x="6766560" y="1143000"/>
            <a:ext cx="1920240" cy="1325880"/>
          </a:xfrm>
          <a:prstGeom prst="roundRect">
            <a:avLst>
              <a:gd name="adj" fmla="val 5517"/>
            </a:avLst>
          </a:prstGeom>
          <a:solidFill>
            <a:schemeClr val="bg2"/>
          </a:solidFill>
          <a:ln/>
        </p:spPr>
      </p:sp>
      <p:sp>
        <p:nvSpPr>
          <p:cNvPr id="13" name="Stat 4 value"/>
          <p:cNvSpPr txBox="1"/>
          <p:nvPr/>
        </p:nvSpPr>
        <p:spPr>
          <a:xfrm>
            <a:off x="6766560" y="1280160"/>
            <a:ext cx="192024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77 + 7</a:t>
            </a:r>
            <a:endParaRPr lang="en-US" sz="3400" dirty="0"/>
          </a:p>
        </p:txBody>
      </p:sp>
      <p:sp>
        <p:nvSpPr>
          <p:cNvPr id="14" name="Stat 4 label"/>
          <p:cNvSpPr txBox="1"/>
          <p:nvPr/>
        </p:nvSpPr>
        <p:spPr>
          <a:xfrm>
            <a:off x="6766560" y="1965960"/>
            <a:ext cx="1920240" cy="365760"/>
          </a:xfrm>
          <a:prstGeom prst="rect">
            <a:avLst/>
          </a:prstGeom>
          <a:noFill/>
          <a:ln/>
        </p:spPr>
        <p:txBody>
          <a:bodyPr wrap="square" lIns="0" tIns="0" rIns="0" bIns="0" rtlCol="0" anchor="t"/>
          <a:lstStyle/>
          <a:p>
            <a:pPr algn="ctr" indent="0" marL="0">
              <a:buNone/>
            </a:pPr>
            <a:r>
              <a:rPr lang="en-US" sz="1300" dirty="0">
                <a:solidFill>
                  <a:schemeClr val="tx2"/>
                </a:solidFill>
              </a:rPr>
              <a:t>districts + provinces</a:t>
            </a:r>
            <a:endParaRPr lang="en-US" sz="1300" dirty="0"/>
          </a:p>
        </p:txBody>
      </p:sp>
      <p:sp>
        <p:nvSpPr>
          <p:cNvPr id="15" name="Dataset details"/>
          <p:cNvSpPr txBox="1"/>
          <p:nvPr/>
        </p:nvSpPr>
        <p:spPr>
          <a:xfrm>
            <a:off x="457200" y="2743200"/>
            <a:ext cx="8229600" cy="20116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Sources: </a:t>
            </a:r>
            <a:pPr indent="0" marL="0">
              <a:spcAft>
                <a:spcPts val="800"/>
              </a:spcAft>
              <a:buNone/>
            </a:pPr>
            <a:r>
              <a:rPr lang="en-US" sz="1400" dirty="0">
                <a:solidFill>
                  <a:schemeClr val="tx1"/>
                </a:solidFill>
              </a:rPr>
              <a:t>nepal_geography.json (all places, English + Nepali names) and domains.json (the 9,761 sites PGS crawls, with a category), from the PGS repository.</a:t>
            </a:r>
            <a:endParaRPr lang="en-US" sz="1400" dirty="0"/>
          </a:p>
          <a:p>
            <a:pPr indent="0" marL="0">
              <a:spcAft>
                <a:spcPts val="800"/>
              </a:spcAft>
              <a:buNone/>
            </a:pPr>
            <a:r>
              <a:rPr lang="en-US" sz="1400" b="1" dirty="0">
                <a:solidFill>
                  <a:schemeClr val="tx1"/>
                </a:solidFill>
              </a:rPr>
              <a:t>Fields: </a:t>
            </a:r>
            <a:pPr indent="0" marL="0">
              <a:spcAft>
                <a:spcPts val="800"/>
              </a:spcAft>
              <a:buNone/>
            </a:pPr>
            <a:r>
              <a:rPr lang="en-US" sz="1400" dirty="0">
                <a:solidFill>
                  <a:schemeClr val="tx1"/>
                </a:solidFill>
              </a:rPr>
              <a:t>title (weight 3), place (weight 2), body (weight 1), as in PGS’s OpenSearch query.</a:t>
            </a:r>
            <a:endParaRPr lang="en-US" sz="1400" dirty="0"/>
          </a:p>
          <a:p>
            <a:pPr indent="0" marL="0">
              <a:spcAft>
                <a:spcPts val="800"/>
              </a:spcAft>
              <a:buNone/>
            </a:pPr>
            <a:r>
              <a:rPr lang="en-US" sz="1400" b="1" dirty="0">
                <a:solidFill>
                  <a:schemeClr val="tx1"/>
                </a:solidFill>
              </a:rPr>
              <a:t>Test set: </a:t>
            </a:r>
            <a:pPr indent="0" marL="0">
              <a:spcAft>
                <a:spcPts val="800"/>
              </a:spcAft>
              <a:buNone/>
            </a:pPr>
            <a:r>
              <a:rPr lang="en-US" sz="1400" dirty="0">
                <a:solidFill>
                  <a:schemeClr val="tx1"/>
                </a:solidFill>
              </a:rPr>
              <a:t>461 queries in 6 groups with 1,891 relevant and 235 partially relevant answers, taken from the metadata.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Methodology: the retrieval pipeline</a:t>
            </a:r>
            <a:endParaRPr lang="en-US" sz="3000" dirty="0"/>
          </a:p>
        </p:txBody>
      </p:sp>
      <p:sp>
        <p:nvSpPr>
          <p:cNvPr id="3" name="Step 1 card"/>
          <p:cNvSpPr/>
          <p:nvPr/>
        </p:nvSpPr>
        <p:spPr>
          <a:xfrm>
            <a:off x="457200" y="1188720"/>
            <a:ext cx="1828800" cy="2331720"/>
          </a:xfrm>
          <a:prstGeom prst="roundRect">
            <a:avLst>
              <a:gd name="adj" fmla="val 4000"/>
            </a:avLst>
          </a:prstGeom>
          <a:solidFill>
            <a:schemeClr val="bg2"/>
          </a:solidFill>
          <a:ln/>
        </p:spPr>
      </p:sp>
      <p:sp>
        <p:nvSpPr>
          <p:cNvPr id="4" name="Step 1 circle"/>
          <p:cNvSpPr/>
          <p:nvPr/>
        </p:nvSpPr>
        <p:spPr>
          <a:xfrm>
            <a:off x="1005840" y="1371600"/>
            <a:ext cx="731520" cy="731520"/>
          </a:xfrm>
          <a:prstGeom prst="ellipse">
            <a:avLst/>
          </a:prstGeom>
          <a:solidFill>
            <a:schemeClr val="accent2"/>
          </a:solidFill>
          <a:ln/>
        </p:spPr>
      </p:sp>
      <p:pic>
        <p:nvPicPr>
          <p:cNvPr id="5" name="Step 1 icon" descr="preencoded.png">    </p:cNvPr>
          <p:cNvPicPr>
            <a:picLocks noChangeAspect="1"/>
          </p:cNvPicPr>
          <p:nvPr/>
        </p:nvPicPr>
        <p:blipFill>
          <a:blip r:embed="rId1"/>
          <a:stretch>
            <a:fillRect/>
          </a:stretch>
        </p:blipFill>
        <p:spPr>
          <a:xfrm>
            <a:off x="1188720" y="1554480"/>
            <a:ext cx="365760" cy="365760"/>
          </a:xfrm>
          <a:prstGeom prst="rect">
            <a:avLst/>
          </a:prstGeom>
        </p:spPr>
      </p:pic>
      <p:sp>
        <p:nvSpPr>
          <p:cNvPr id="6" name="Step 1 title"/>
          <p:cNvSpPr txBox="1"/>
          <p:nvPr/>
        </p:nvSpPr>
        <p:spPr>
          <a:xfrm>
            <a:off x="566928" y="2240280"/>
            <a:ext cx="1609344" cy="365760"/>
          </a:xfrm>
          <a:prstGeom prst="rect">
            <a:avLst/>
          </a:prstGeom>
          <a:noFill/>
          <a:ln/>
        </p:spPr>
        <p:txBody>
          <a:bodyPr wrap="square" lIns="0" tIns="0" rIns="0" bIns="0" rtlCol="0" anchor="t"/>
          <a:lstStyle/>
          <a:p>
            <a:pPr algn="ctr" indent="0" marL="0">
              <a:buNone/>
            </a:pPr>
            <a:r>
              <a:rPr lang="en-US" sz="1600" b="1" dirty="0">
                <a:solidFill>
                  <a:schemeClr val="tx1"/>
                </a:solidFill>
              </a:rPr>
              <a:t>1. Preprocess</a:t>
            </a:r>
            <a:endParaRPr lang="en-US" sz="1600" dirty="0"/>
          </a:p>
        </p:txBody>
      </p:sp>
      <p:sp>
        <p:nvSpPr>
          <p:cNvPr id="7" name="Step 1 text"/>
          <p:cNvSpPr txBox="1"/>
          <p:nvPr/>
        </p:nvSpPr>
        <p:spPr>
          <a:xfrm>
            <a:off x="566928" y="2651760"/>
            <a:ext cx="1609344" cy="822960"/>
          </a:xfrm>
          <a:prstGeom prst="rect">
            <a:avLst/>
          </a:prstGeom>
          <a:noFill/>
          <a:ln/>
        </p:spPr>
        <p:txBody>
          <a:bodyPr wrap="square" lIns="0" tIns="0" rIns="0" bIns="0" rtlCol="0" anchor="t"/>
          <a:lstStyle/>
          <a:p>
            <a:pPr algn="ctr" indent="0" marL="0">
              <a:buNone/>
            </a:pPr>
            <a:r>
              <a:rPr lang="en-US" sz="1250" dirty="0">
                <a:solidFill>
                  <a:schemeClr val="tx2"/>
                </a:solidFill>
              </a:rPr>
              <a:t>Normalise, tokenise, split joined words, stop words, stem (EN / NE)</a:t>
            </a:r>
            <a:endParaRPr lang="en-US" sz="1250" dirty="0"/>
          </a:p>
        </p:txBody>
      </p:sp>
      <p:sp>
        <p:nvSpPr>
          <p:cNvPr id="8" name="Arrow 1"/>
          <p:cNvSpPr/>
          <p:nvPr/>
        </p:nvSpPr>
        <p:spPr>
          <a:xfrm>
            <a:off x="2327148" y="2194560"/>
            <a:ext cx="219456" cy="274320"/>
          </a:xfrm>
          <a:prstGeom prst="rightArrow">
            <a:avLst/>
          </a:prstGeom>
          <a:solidFill>
            <a:schemeClr val="accent5"/>
          </a:solidFill>
          <a:ln/>
        </p:spPr>
      </p:sp>
      <p:sp>
        <p:nvSpPr>
          <p:cNvPr id="9" name="Step 2 card"/>
          <p:cNvSpPr/>
          <p:nvPr/>
        </p:nvSpPr>
        <p:spPr>
          <a:xfrm>
            <a:off x="2587752" y="1188720"/>
            <a:ext cx="1828800" cy="2331720"/>
          </a:xfrm>
          <a:prstGeom prst="roundRect">
            <a:avLst>
              <a:gd name="adj" fmla="val 4000"/>
            </a:avLst>
          </a:prstGeom>
          <a:solidFill>
            <a:schemeClr val="bg2"/>
          </a:solidFill>
          <a:ln/>
        </p:spPr>
      </p:sp>
      <p:sp>
        <p:nvSpPr>
          <p:cNvPr id="10" name="Step 2 circle"/>
          <p:cNvSpPr/>
          <p:nvPr/>
        </p:nvSpPr>
        <p:spPr>
          <a:xfrm>
            <a:off x="3136392" y="1371600"/>
            <a:ext cx="731520" cy="731520"/>
          </a:xfrm>
          <a:prstGeom prst="ellipse">
            <a:avLst/>
          </a:prstGeom>
          <a:solidFill>
            <a:schemeClr val="accent2"/>
          </a:solidFill>
          <a:ln/>
        </p:spPr>
      </p:sp>
      <p:pic>
        <p:nvPicPr>
          <p:cNvPr id="11" name="Step 2 icon" descr="preencoded.png">    </p:cNvPr>
          <p:cNvPicPr>
            <a:picLocks noChangeAspect="1"/>
          </p:cNvPicPr>
          <p:nvPr/>
        </p:nvPicPr>
        <p:blipFill>
          <a:blip r:embed="rId2"/>
          <a:stretch>
            <a:fillRect/>
          </a:stretch>
        </p:blipFill>
        <p:spPr>
          <a:xfrm>
            <a:off x="3319272" y="1554480"/>
            <a:ext cx="365760" cy="365760"/>
          </a:xfrm>
          <a:prstGeom prst="rect">
            <a:avLst/>
          </a:prstGeom>
        </p:spPr>
      </p:pic>
      <p:sp>
        <p:nvSpPr>
          <p:cNvPr id="12" name="Step 2 title"/>
          <p:cNvSpPr txBox="1"/>
          <p:nvPr/>
        </p:nvSpPr>
        <p:spPr>
          <a:xfrm>
            <a:off x="2697480" y="2240280"/>
            <a:ext cx="1609344" cy="365760"/>
          </a:xfrm>
          <a:prstGeom prst="rect">
            <a:avLst/>
          </a:prstGeom>
          <a:noFill/>
          <a:ln/>
        </p:spPr>
        <p:txBody>
          <a:bodyPr wrap="square" lIns="0" tIns="0" rIns="0" bIns="0" rtlCol="0" anchor="t"/>
          <a:lstStyle/>
          <a:p>
            <a:pPr algn="ctr" indent="0" marL="0">
              <a:buNone/>
            </a:pPr>
            <a:r>
              <a:rPr lang="en-US" sz="1600" b="1" dirty="0">
                <a:solidFill>
                  <a:schemeClr val="tx1"/>
                </a:solidFill>
              </a:rPr>
              <a:t>2. Index</a:t>
            </a:r>
            <a:endParaRPr lang="en-US" sz="1600" dirty="0"/>
          </a:p>
        </p:txBody>
      </p:sp>
      <p:sp>
        <p:nvSpPr>
          <p:cNvPr id="13" name="Step 2 text"/>
          <p:cNvSpPr txBox="1"/>
          <p:nvPr/>
        </p:nvSpPr>
        <p:spPr>
          <a:xfrm>
            <a:off x="2697480" y="2651760"/>
            <a:ext cx="1609344" cy="822960"/>
          </a:xfrm>
          <a:prstGeom prst="rect">
            <a:avLst/>
          </a:prstGeom>
          <a:noFill/>
          <a:ln/>
        </p:spPr>
        <p:txBody>
          <a:bodyPr wrap="square" lIns="0" tIns="0" rIns="0" bIns="0" rtlCol="0" anchor="t"/>
          <a:lstStyle/>
          <a:p>
            <a:pPr algn="ctr" indent="0" marL="0">
              <a:buNone/>
            </a:pPr>
            <a:r>
              <a:rPr lang="en-US" sz="1250" dirty="0">
                <a:solidFill>
                  <a:schemeClr val="tx2"/>
                </a:solidFill>
              </a:rPr>
              <a:t>Inverted index with per-field term counts: 11,352 terms</a:t>
            </a:r>
            <a:endParaRPr lang="en-US" sz="1250" dirty="0"/>
          </a:p>
        </p:txBody>
      </p:sp>
      <p:sp>
        <p:nvSpPr>
          <p:cNvPr id="14" name="Arrow 2"/>
          <p:cNvSpPr/>
          <p:nvPr/>
        </p:nvSpPr>
        <p:spPr>
          <a:xfrm>
            <a:off x="4457700" y="2194560"/>
            <a:ext cx="219456" cy="274320"/>
          </a:xfrm>
          <a:prstGeom prst="rightArrow">
            <a:avLst/>
          </a:prstGeom>
          <a:solidFill>
            <a:schemeClr val="accent5"/>
          </a:solidFill>
          <a:ln/>
        </p:spPr>
      </p:sp>
      <p:sp>
        <p:nvSpPr>
          <p:cNvPr id="15" name="Step 3 card"/>
          <p:cNvSpPr/>
          <p:nvPr/>
        </p:nvSpPr>
        <p:spPr>
          <a:xfrm>
            <a:off x="4718304" y="1188720"/>
            <a:ext cx="1828800" cy="2331720"/>
          </a:xfrm>
          <a:prstGeom prst="roundRect">
            <a:avLst>
              <a:gd name="adj" fmla="val 4000"/>
            </a:avLst>
          </a:prstGeom>
          <a:solidFill>
            <a:schemeClr val="bg2"/>
          </a:solidFill>
          <a:ln/>
        </p:spPr>
      </p:sp>
      <p:sp>
        <p:nvSpPr>
          <p:cNvPr id="16" name="Step 3 circle"/>
          <p:cNvSpPr/>
          <p:nvPr/>
        </p:nvSpPr>
        <p:spPr>
          <a:xfrm>
            <a:off x="5266944" y="1371600"/>
            <a:ext cx="731520" cy="731520"/>
          </a:xfrm>
          <a:prstGeom prst="ellipse">
            <a:avLst/>
          </a:prstGeom>
          <a:solidFill>
            <a:schemeClr val="accent2"/>
          </a:solidFill>
          <a:ln/>
        </p:spPr>
      </p:sp>
      <p:pic>
        <p:nvPicPr>
          <p:cNvPr id="17" name="Step 3 icon" descr="preencoded.png">    </p:cNvPr>
          <p:cNvPicPr>
            <a:picLocks noChangeAspect="1"/>
          </p:cNvPicPr>
          <p:nvPr/>
        </p:nvPicPr>
        <p:blipFill>
          <a:blip r:embed="rId3"/>
          <a:stretch>
            <a:fillRect/>
          </a:stretch>
        </p:blipFill>
        <p:spPr>
          <a:xfrm>
            <a:off x="5449824" y="1554480"/>
            <a:ext cx="365760" cy="365760"/>
          </a:xfrm>
          <a:prstGeom prst="rect">
            <a:avLst/>
          </a:prstGeom>
        </p:spPr>
      </p:pic>
      <p:sp>
        <p:nvSpPr>
          <p:cNvPr id="18" name="Step 3 title"/>
          <p:cNvSpPr txBox="1"/>
          <p:nvPr/>
        </p:nvSpPr>
        <p:spPr>
          <a:xfrm>
            <a:off x="4828032" y="2240280"/>
            <a:ext cx="1609344" cy="365760"/>
          </a:xfrm>
          <a:prstGeom prst="rect">
            <a:avLst/>
          </a:prstGeom>
          <a:noFill/>
          <a:ln/>
        </p:spPr>
        <p:txBody>
          <a:bodyPr wrap="square" lIns="0" tIns="0" rIns="0" bIns="0" rtlCol="0" anchor="t"/>
          <a:lstStyle/>
          <a:p>
            <a:pPr algn="ctr" indent="0" marL="0">
              <a:buNone/>
            </a:pPr>
            <a:r>
              <a:rPr lang="en-US" sz="1600" b="1" dirty="0">
                <a:solidFill>
                  <a:schemeClr val="tx1"/>
                </a:solidFill>
              </a:rPr>
              <a:t>3. Process query</a:t>
            </a:r>
            <a:endParaRPr lang="en-US" sz="1600" dirty="0"/>
          </a:p>
        </p:txBody>
      </p:sp>
      <p:sp>
        <p:nvSpPr>
          <p:cNvPr id="19" name="Step 3 text"/>
          <p:cNvSpPr txBox="1"/>
          <p:nvPr/>
        </p:nvSpPr>
        <p:spPr>
          <a:xfrm>
            <a:off x="4828032" y="2651760"/>
            <a:ext cx="1609344" cy="822960"/>
          </a:xfrm>
          <a:prstGeom prst="rect">
            <a:avLst/>
          </a:prstGeom>
          <a:noFill/>
          <a:ln/>
        </p:spPr>
        <p:txBody>
          <a:bodyPr wrap="square" lIns="0" tIns="0" rIns="0" bIns="0" rtlCol="0" anchor="t"/>
          <a:lstStyle/>
          <a:p>
            <a:pPr algn="ctr" indent="0" marL="0">
              <a:buNone/>
            </a:pPr>
            <a:r>
              <a:rPr lang="en-US" sz="1250" dirty="0">
                <a:solidFill>
                  <a:schemeClr val="tx2"/>
                </a:solidFill>
              </a:rPr>
              <a:t>Filters, language, spelling fix, EN↔NE translation</a:t>
            </a:r>
            <a:endParaRPr lang="en-US" sz="1250" dirty="0"/>
          </a:p>
        </p:txBody>
      </p:sp>
      <p:sp>
        <p:nvSpPr>
          <p:cNvPr id="20" name="Arrow 3"/>
          <p:cNvSpPr/>
          <p:nvPr/>
        </p:nvSpPr>
        <p:spPr>
          <a:xfrm>
            <a:off x="6588252" y="2194560"/>
            <a:ext cx="219456" cy="274320"/>
          </a:xfrm>
          <a:prstGeom prst="rightArrow">
            <a:avLst/>
          </a:prstGeom>
          <a:solidFill>
            <a:schemeClr val="accent5"/>
          </a:solidFill>
          <a:ln/>
        </p:spPr>
      </p:sp>
      <p:sp>
        <p:nvSpPr>
          <p:cNvPr id="21" name="Step 4 card"/>
          <p:cNvSpPr/>
          <p:nvPr/>
        </p:nvSpPr>
        <p:spPr>
          <a:xfrm>
            <a:off x="6848856" y="1188720"/>
            <a:ext cx="1828800" cy="2331720"/>
          </a:xfrm>
          <a:prstGeom prst="roundRect">
            <a:avLst>
              <a:gd name="adj" fmla="val 4000"/>
            </a:avLst>
          </a:prstGeom>
          <a:solidFill>
            <a:schemeClr val="bg2"/>
          </a:solidFill>
          <a:ln/>
        </p:spPr>
      </p:sp>
      <p:sp>
        <p:nvSpPr>
          <p:cNvPr id="22" name="Step 4 circle"/>
          <p:cNvSpPr/>
          <p:nvPr/>
        </p:nvSpPr>
        <p:spPr>
          <a:xfrm>
            <a:off x="7397496" y="1371600"/>
            <a:ext cx="731520" cy="731520"/>
          </a:xfrm>
          <a:prstGeom prst="ellipse">
            <a:avLst/>
          </a:prstGeom>
          <a:solidFill>
            <a:schemeClr val="accent2"/>
          </a:solidFill>
          <a:ln/>
        </p:spPr>
      </p:sp>
      <p:pic>
        <p:nvPicPr>
          <p:cNvPr id="23" name="Step 4 icon" descr="preencoded.png">    </p:cNvPr>
          <p:cNvPicPr>
            <a:picLocks noChangeAspect="1"/>
          </p:cNvPicPr>
          <p:nvPr/>
        </p:nvPicPr>
        <p:blipFill>
          <a:blip r:embed="rId4"/>
          <a:stretch>
            <a:fillRect/>
          </a:stretch>
        </p:blipFill>
        <p:spPr>
          <a:xfrm>
            <a:off x="7580376" y="1554480"/>
            <a:ext cx="365760" cy="365760"/>
          </a:xfrm>
          <a:prstGeom prst="rect">
            <a:avLst/>
          </a:prstGeom>
        </p:spPr>
      </p:pic>
      <p:sp>
        <p:nvSpPr>
          <p:cNvPr id="24" name="Step 4 title"/>
          <p:cNvSpPr txBox="1"/>
          <p:nvPr/>
        </p:nvSpPr>
        <p:spPr>
          <a:xfrm>
            <a:off x="6958584" y="2240280"/>
            <a:ext cx="1609344" cy="365760"/>
          </a:xfrm>
          <a:prstGeom prst="rect">
            <a:avLst/>
          </a:prstGeom>
          <a:noFill/>
          <a:ln/>
        </p:spPr>
        <p:txBody>
          <a:bodyPr wrap="square" lIns="0" tIns="0" rIns="0" bIns="0" rtlCol="0" anchor="t"/>
          <a:lstStyle/>
          <a:p>
            <a:pPr algn="ctr" indent="0" marL="0">
              <a:buNone/>
            </a:pPr>
            <a:r>
              <a:rPr lang="en-US" sz="1600" b="1" dirty="0">
                <a:solidFill>
                  <a:schemeClr val="tx1"/>
                </a:solidFill>
              </a:rPr>
              <a:t>4. Rank</a:t>
            </a:r>
            <a:endParaRPr lang="en-US" sz="1600" dirty="0"/>
          </a:p>
        </p:txBody>
      </p:sp>
      <p:sp>
        <p:nvSpPr>
          <p:cNvPr id="25" name="Step 4 text"/>
          <p:cNvSpPr txBox="1"/>
          <p:nvPr/>
        </p:nvSpPr>
        <p:spPr>
          <a:xfrm>
            <a:off x="6958584" y="2651760"/>
            <a:ext cx="1609344" cy="822960"/>
          </a:xfrm>
          <a:prstGeom prst="rect">
            <a:avLst/>
          </a:prstGeom>
          <a:noFill/>
          <a:ln/>
        </p:spPr>
        <p:txBody>
          <a:bodyPr wrap="square" lIns="0" tIns="0" rIns="0" bIns="0" rtlCol="0" anchor="t"/>
          <a:lstStyle/>
          <a:p>
            <a:pPr algn="ctr" indent="0" marL="0">
              <a:buNone/>
            </a:pPr>
            <a:r>
              <a:rPr lang="en-US" sz="1250" dirty="0">
                <a:solidFill>
                  <a:schemeClr val="tx2"/>
                </a:solidFill>
              </a:rPr>
              <a:t>Boolean, TF-IDF, BM25F or Hybrid (RRF)</a:t>
            </a:r>
            <a:endParaRPr lang="en-US" sz="1250" dirty="0"/>
          </a:p>
        </p:txBody>
      </p:sp>
      <p:sp>
        <p:nvSpPr>
          <p:cNvPr id="26" name="Pipeline example"/>
          <p:cNvSpPr txBox="1"/>
          <p:nvPr/>
        </p:nvSpPr>
        <p:spPr>
          <a:xfrm>
            <a:off x="457200" y="3840480"/>
            <a:ext cx="8229600" cy="457200"/>
          </a:xfrm>
          <a:prstGeom prst="rect">
            <a:avLst/>
          </a:prstGeom>
          <a:noFill/>
          <a:ln/>
        </p:spPr>
        <p:txBody>
          <a:bodyPr wrap="square" lIns="0" tIns="0" rIns="0" bIns="0" rtlCol="0" anchor="t"/>
          <a:lstStyle/>
          <a:p>
            <a:pPr indent="0" marL="0">
              <a:buNone/>
            </a:pPr>
            <a:r>
              <a:rPr lang="en-US" sz="1400" b="1" dirty="0">
                <a:solidFill>
                  <a:schemeClr val="tx1"/>
                </a:solidFill>
              </a:rPr>
              <a:t>Example: </a:t>
            </a:r>
            <a:pPr indent="0" marL="0">
              <a:buNone/>
            </a:pPr>
            <a:r>
              <a:rPr lang="en-US" sz="1400" dirty="0">
                <a:solidFill>
                  <a:schemeClr val="tx1"/>
                </a:solidFill>
              </a:rPr>
              <a:t>pokharanews.com → pokhara + news;  काठमाडौंको → काठमाडौं;  pokhra → pokhara → पोखरा</a:t>
            </a:r>
            <a:endParaRPr lang="en-US" sz="1400" dirty="0"/>
          </a:p>
        </p:txBody>
      </p:sp>
      <p:sp>
        <p:nvSpPr>
          <p:cNvPr id="27" name="Pipeline note"/>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chemeClr val="tx2"/>
                </a:solidFill>
              </a:rPr>
              <a:t>Pure Python, no external libraries; mirrors the design of the PGS search engine.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Four retrieval models compared</a:t>
            </a:r>
            <a:endParaRPr lang="en-US" sz="3000" dirty="0"/>
          </a:p>
        </p:txBody>
      </p:sp>
      <p:sp>
        <p:nvSpPr>
          <p:cNvPr id="3" name="Model 1 tag"/>
          <p:cNvSpPr/>
          <p:nvPr/>
        </p:nvSpPr>
        <p:spPr>
          <a:xfrm>
            <a:off x="457200" y="1097280"/>
            <a:ext cx="1737360" cy="685800"/>
          </a:xfrm>
          <a:prstGeom prst="roundRect">
            <a:avLst>
              <a:gd name="adj" fmla="val 10667"/>
            </a:avLst>
          </a:prstGeom>
          <a:solidFill>
            <a:schemeClr val="accent5"/>
          </a:solidFill>
          <a:ln/>
        </p:spPr>
      </p:sp>
      <p:sp>
        <p:nvSpPr>
          <p:cNvPr id="4" name="Model 1 name"/>
          <p:cNvSpPr txBox="1"/>
          <p:nvPr/>
        </p:nvSpPr>
        <p:spPr>
          <a:xfrm>
            <a:off x="457200" y="1097280"/>
            <a:ext cx="1737360" cy="685800"/>
          </a:xfrm>
          <a:prstGeom prst="rect">
            <a:avLst/>
          </a:prstGeom>
          <a:noFill/>
          <a:ln/>
        </p:spPr>
        <p:txBody>
          <a:bodyPr wrap="square" lIns="0" tIns="0" rIns="0" bIns="0" rtlCol="0" anchor="ctr"/>
          <a:lstStyle/>
          <a:p>
            <a:pPr algn="ctr" indent="0" marL="0">
              <a:buNone/>
            </a:pPr>
            <a:r>
              <a:rPr lang="en-US" sz="1700" b="1" dirty="0">
                <a:solidFill>
                  <a:schemeClr val="bg1"/>
                </a:solidFill>
              </a:rPr>
              <a:t>Boolean</a:t>
            </a:r>
            <a:endParaRPr lang="en-US" sz="1700" dirty="0"/>
          </a:p>
        </p:txBody>
      </p:sp>
      <p:sp>
        <p:nvSpPr>
          <p:cNvPr id="5" name="Model 1 text"/>
          <p:cNvSpPr txBox="1"/>
          <p:nvPr/>
        </p:nvSpPr>
        <p:spPr>
          <a:xfrm>
            <a:off x="2423160" y="1097280"/>
            <a:ext cx="3657600" cy="685800"/>
          </a:xfrm>
          <a:prstGeom prst="rect">
            <a:avLst/>
          </a:prstGeom>
          <a:noFill/>
          <a:ln/>
        </p:spPr>
        <p:txBody>
          <a:bodyPr wrap="square" lIns="0" tIns="0" rIns="0" bIns="0" rtlCol="0" anchor="ctr"/>
          <a:lstStyle/>
          <a:p>
            <a:pPr indent="0" marL="0">
              <a:buNone/>
            </a:pPr>
            <a:r>
              <a:rPr lang="en-US" sz="1400" dirty="0">
                <a:solidFill>
                  <a:schemeClr val="tx1"/>
                </a:solidFill>
              </a:rPr>
              <a:t>AND / OR / NOT over posting lists. Exact, but no ranking.</a:t>
            </a:r>
            <a:endParaRPr lang="en-US" sz="1400" dirty="0"/>
          </a:p>
        </p:txBody>
      </p:sp>
      <p:sp>
        <p:nvSpPr>
          <p:cNvPr id="6" name="Model 2 tag"/>
          <p:cNvSpPr/>
          <p:nvPr/>
        </p:nvSpPr>
        <p:spPr>
          <a:xfrm>
            <a:off x="457200" y="1965960"/>
            <a:ext cx="1737360" cy="685800"/>
          </a:xfrm>
          <a:prstGeom prst="roundRect">
            <a:avLst>
              <a:gd name="adj" fmla="val 10667"/>
            </a:avLst>
          </a:prstGeom>
          <a:solidFill>
            <a:schemeClr val="accent4"/>
          </a:solidFill>
          <a:ln/>
        </p:spPr>
      </p:sp>
      <p:sp>
        <p:nvSpPr>
          <p:cNvPr id="7" name="Model 2 name"/>
          <p:cNvSpPr txBox="1"/>
          <p:nvPr/>
        </p:nvSpPr>
        <p:spPr>
          <a:xfrm>
            <a:off x="457200" y="1965960"/>
            <a:ext cx="1737360" cy="685800"/>
          </a:xfrm>
          <a:prstGeom prst="rect">
            <a:avLst/>
          </a:prstGeom>
          <a:noFill/>
          <a:ln/>
        </p:spPr>
        <p:txBody>
          <a:bodyPr wrap="square" lIns="0" tIns="0" rIns="0" bIns="0" rtlCol="0" anchor="ctr"/>
          <a:lstStyle/>
          <a:p>
            <a:pPr algn="ctr" indent="0" marL="0">
              <a:buNone/>
            </a:pPr>
            <a:r>
              <a:rPr lang="en-US" sz="1700" b="1" dirty="0">
                <a:solidFill>
                  <a:schemeClr val="bg1"/>
                </a:solidFill>
              </a:rPr>
              <a:t>TF-IDF</a:t>
            </a:r>
            <a:endParaRPr lang="en-US" sz="1700" dirty="0"/>
          </a:p>
        </p:txBody>
      </p:sp>
      <p:sp>
        <p:nvSpPr>
          <p:cNvPr id="8" name="Model 2 text"/>
          <p:cNvSpPr txBox="1"/>
          <p:nvPr/>
        </p:nvSpPr>
        <p:spPr>
          <a:xfrm>
            <a:off x="2423160" y="1965960"/>
            <a:ext cx="3657600" cy="685800"/>
          </a:xfrm>
          <a:prstGeom prst="rect">
            <a:avLst/>
          </a:prstGeom>
          <a:noFill/>
          <a:ln/>
        </p:spPr>
        <p:txBody>
          <a:bodyPr wrap="square" lIns="0" tIns="0" rIns="0" bIns="0" rtlCol="0" anchor="ctr"/>
          <a:lstStyle/>
          <a:p>
            <a:pPr indent="0" marL="0">
              <a:buNone/>
            </a:pPr>
            <a:r>
              <a:rPr lang="en-US" sz="1400" dirty="0">
                <a:solidFill>
                  <a:schemeClr val="tx1"/>
                </a:solidFill>
              </a:rPr>
              <a:t>Vector space model, cosine similarity of tf × idf weights.</a:t>
            </a:r>
            <a:endParaRPr lang="en-US" sz="1400" dirty="0"/>
          </a:p>
        </p:txBody>
      </p:sp>
      <p:sp>
        <p:nvSpPr>
          <p:cNvPr id="9" name="Model 3 tag"/>
          <p:cNvSpPr/>
          <p:nvPr/>
        </p:nvSpPr>
        <p:spPr>
          <a:xfrm>
            <a:off x="457200" y="2834640"/>
            <a:ext cx="1737360" cy="685800"/>
          </a:xfrm>
          <a:prstGeom prst="roundRect">
            <a:avLst>
              <a:gd name="adj" fmla="val 10667"/>
            </a:avLst>
          </a:prstGeom>
          <a:solidFill>
            <a:schemeClr val="accent2"/>
          </a:solidFill>
          <a:ln/>
        </p:spPr>
      </p:sp>
      <p:sp>
        <p:nvSpPr>
          <p:cNvPr id="10" name="Model 3 name"/>
          <p:cNvSpPr txBox="1"/>
          <p:nvPr/>
        </p:nvSpPr>
        <p:spPr>
          <a:xfrm>
            <a:off x="457200" y="2834640"/>
            <a:ext cx="1737360" cy="685800"/>
          </a:xfrm>
          <a:prstGeom prst="rect">
            <a:avLst/>
          </a:prstGeom>
          <a:noFill/>
          <a:ln/>
        </p:spPr>
        <p:txBody>
          <a:bodyPr wrap="square" lIns="0" tIns="0" rIns="0" bIns="0" rtlCol="0" anchor="ctr"/>
          <a:lstStyle/>
          <a:p>
            <a:pPr algn="ctr" indent="0" marL="0">
              <a:buNone/>
            </a:pPr>
            <a:r>
              <a:rPr lang="en-US" sz="1700" b="1" dirty="0">
                <a:solidFill>
                  <a:schemeClr val="bg1"/>
                </a:solidFill>
              </a:rPr>
              <a:t>BM25F</a:t>
            </a:r>
            <a:endParaRPr lang="en-US" sz="1700" dirty="0"/>
          </a:p>
        </p:txBody>
      </p:sp>
      <p:sp>
        <p:nvSpPr>
          <p:cNvPr id="11" name="Model 3 text"/>
          <p:cNvSpPr txBox="1"/>
          <p:nvPr/>
        </p:nvSpPr>
        <p:spPr>
          <a:xfrm>
            <a:off x="2423160" y="2834640"/>
            <a:ext cx="3657600" cy="685800"/>
          </a:xfrm>
          <a:prstGeom prst="rect">
            <a:avLst/>
          </a:prstGeom>
          <a:noFill/>
          <a:ln/>
        </p:spPr>
        <p:txBody>
          <a:bodyPr wrap="square" lIns="0" tIns="0" rIns="0" bIns="0" rtlCol="0" anchor="ctr"/>
          <a:lstStyle/>
          <a:p>
            <a:pPr indent="0" marL="0">
              <a:buNone/>
            </a:pPr>
            <a:r>
              <a:rPr lang="en-US" sz="1400" dirty="0">
                <a:solidFill>
                  <a:schemeClr val="tx1"/>
                </a:solidFill>
              </a:rPr>
              <a:t>Probabilistic model over fields, as used by OpenSearch and PGS (k1, b).</a:t>
            </a:r>
            <a:endParaRPr lang="en-US" sz="1400" dirty="0"/>
          </a:p>
        </p:txBody>
      </p:sp>
      <p:sp>
        <p:nvSpPr>
          <p:cNvPr id="12" name="Model 4 tag"/>
          <p:cNvSpPr/>
          <p:nvPr/>
        </p:nvSpPr>
        <p:spPr>
          <a:xfrm>
            <a:off x="457200" y="3703320"/>
            <a:ext cx="1737360" cy="685800"/>
          </a:xfrm>
          <a:prstGeom prst="roundRect">
            <a:avLst>
              <a:gd name="adj" fmla="val 10667"/>
            </a:avLst>
          </a:prstGeom>
          <a:solidFill>
            <a:schemeClr val="accent6"/>
          </a:solidFill>
          <a:ln/>
        </p:spPr>
      </p:sp>
      <p:sp>
        <p:nvSpPr>
          <p:cNvPr id="13" name="Model 4 name"/>
          <p:cNvSpPr txBox="1"/>
          <p:nvPr/>
        </p:nvSpPr>
        <p:spPr>
          <a:xfrm>
            <a:off x="457200" y="3703320"/>
            <a:ext cx="1737360" cy="685800"/>
          </a:xfrm>
          <a:prstGeom prst="rect">
            <a:avLst/>
          </a:prstGeom>
          <a:noFill/>
          <a:ln/>
        </p:spPr>
        <p:txBody>
          <a:bodyPr wrap="square" lIns="0" tIns="0" rIns="0" bIns="0" rtlCol="0" anchor="ctr"/>
          <a:lstStyle/>
          <a:p>
            <a:pPr algn="ctr" indent="0" marL="0">
              <a:buNone/>
            </a:pPr>
            <a:r>
              <a:rPr lang="en-US" sz="1700" b="1" dirty="0">
                <a:solidFill>
                  <a:schemeClr val="bg1"/>
                </a:solidFill>
              </a:rPr>
              <a:t>Hybrid RRF</a:t>
            </a:r>
            <a:endParaRPr lang="en-US" sz="1700" dirty="0"/>
          </a:p>
        </p:txBody>
      </p:sp>
      <p:sp>
        <p:nvSpPr>
          <p:cNvPr id="14" name="Model 4 text"/>
          <p:cNvSpPr txBox="1"/>
          <p:nvPr/>
        </p:nvSpPr>
        <p:spPr>
          <a:xfrm>
            <a:off x="2423160" y="3703320"/>
            <a:ext cx="3657600" cy="685800"/>
          </a:xfrm>
          <a:prstGeom prst="rect">
            <a:avLst/>
          </a:prstGeom>
          <a:noFill/>
          <a:ln/>
        </p:spPr>
        <p:txBody>
          <a:bodyPr wrap="square" lIns="0" tIns="0" rIns="0" bIns="0" rtlCol="0" anchor="ctr"/>
          <a:lstStyle/>
          <a:p>
            <a:pPr indent="0" marL="0">
              <a:buNone/>
            </a:pPr>
            <a:r>
              <a:rPr lang="en-US" sz="1400" dirty="0">
                <a:solidFill>
                  <a:schemeClr val="tx1"/>
                </a:solidFill>
              </a:rPr>
              <a:t>Reciprocal Rank Fusion of BM25F and TF-IDF, the method PGS uses.</a:t>
            </a:r>
            <a:endParaRPr lang="en-US" sz="1400" dirty="0"/>
          </a:p>
        </p:txBody>
      </p:sp>
      <p:sp>
        <p:nvSpPr>
          <p:cNvPr id="15" name="Expansion card"/>
          <p:cNvSpPr/>
          <p:nvPr/>
        </p:nvSpPr>
        <p:spPr>
          <a:xfrm>
            <a:off x="6355080" y="1097280"/>
            <a:ext cx="2331720" cy="3291840"/>
          </a:xfrm>
          <a:prstGeom prst="roundRect">
            <a:avLst>
              <a:gd name="adj" fmla="val 3137"/>
            </a:avLst>
          </a:prstGeom>
          <a:solidFill>
            <a:schemeClr val="bg2"/>
          </a:solidFill>
          <a:ln/>
        </p:spPr>
      </p:sp>
      <p:sp>
        <p:nvSpPr>
          <p:cNvPr id="16" name="Expansion circle"/>
          <p:cNvSpPr/>
          <p:nvPr/>
        </p:nvSpPr>
        <p:spPr>
          <a:xfrm>
            <a:off x="7132320" y="1280160"/>
            <a:ext cx="731520" cy="731520"/>
          </a:xfrm>
          <a:prstGeom prst="ellipse">
            <a:avLst/>
          </a:prstGeom>
          <a:solidFill>
            <a:schemeClr val="accent1"/>
          </a:solidFill>
          <a:ln/>
        </p:spPr>
      </p:sp>
      <p:pic>
        <p:nvPicPr>
          <p:cNvPr id="17" name="Expansion icon" descr="preencoded.png">    </p:cNvPr>
          <p:cNvPicPr>
            <a:picLocks noChangeAspect="1"/>
          </p:cNvPicPr>
          <p:nvPr/>
        </p:nvPicPr>
        <p:blipFill>
          <a:blip r:embed="rId1"/>
          <a:stretch>
            <a:fillRect/>
          </a:stretch>
        </p:blipFill>
        <p:spPr>
          <a:xfrm>
            <a:off x="7315200" y="1463040"/>
            <a:ext cx="365760" cy="365760"/>
          </a:xfrm>
          <a:prstGeom prst="rect">
            <a:avLst/>
          </a:prstGeom>
        </p:spPr>
      </p:pic>
      <p:sp>
        <p:nvSpPr>
          <p:cNvPr id="18" name="Expansion title"/>
          <p:cNvSpPr txBox="1"/>
          <p:nvPr/>
        </p:nvSpPr>
        <p:spPr>
          <a:xfrm>
            <a:off x="6492240" y="2148840"/>
            <a:ext cx="2057400" cy="365760"/>
          </a:xfrm>
          <a:prstGeom prst="rect">
            <a:avLst/>
          </a:prstGeom>
          <a:noFill/>
          <a:ln/>
        </p:spPr>
        <p:txBody>
          <a:bodyPr wrap="square" lIns="0" tIns="0" rIns="0" bIns="0" rtlCol="0" anchor="t"/>
          <a:lstStyle/>
          <a:p>
            <a:pPr algn="ctr" indent="0" marL="0">
              <a:buNone/>
            </a:pPr>
            <a:r>
              <a:rPr lang="en-US" sz="1600" b="1" dirty="0">
                <a:solidFill>
                  <a:schemeClr val="tx1"/>
                </a:solidFill>
              </a:rPr>
              <a:t>+ Query expansion</a:t>
            </a:r>
            <a:endParaRPr lang="en-US" sz="1600" dirty="0"/>
          </a:p>
        </p:txBody>
      </p:sp>
      <p:sp>
        <p:nvSpPr>
          <p:cNvPr id="19" name="Expansion text"/>
          <p:cNvSpPr txBox="1"/>
          <p:nvPr/>
        </p:nvSpPr>
        <p:spPr>
          <a:xfrm>
            <a:off x="6537960" y="2606040"/>
            <a:ext cx="1965960" cy="1645920"/>
          </a:xfrm>
          <a:prstGeom prst="rect">
            <a:avLst/>
          </a:prstGeom>
          <a:noFill/>
          <a:ln/>
        </p:spPr>
        <p:txBody>
          <a:bodyPr wrap="square" lIns="0" tIns="0" rIns="0" bIns="0" rtlCol="0" anchor="t"/>
          <a:lstStyle/>
          <a:p>
            <a:pPr indent="0" marL="0">
              <a:buNone/>
            </a:pPr>
            <a:r>
              <a:rPr lang="en-US" sz="1300" dirty="0">
                <a:solidFill>
                  <a:schemeClr val="tx2"/>
                </a:solidFill>
              </a:rPr>
              <a:t>Each ranked model was run with and without spelling correction and English–Nepali translation of the query.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Evaluation design</a:t>
            </a:r>
            <a:endParaRPr lang="en-US" sz="3000" dirty="0"/>
          </a:p>
        </p:txBody>
      </p:sp>
      <p:sp>
        <p:nvSpPr>
          <p:cNvPr id="3" name="Eval 1 circle"/>
          <p:cNvSpPr/>
          <p:nvPr/>
        </p:nvSpPr>
        <p:spPr>
          <a:xfrm>
            <a:off x="457200" y="1143000"/>
            <a:ext cx="594360" cy="594360"/>
          </a:xfrm>
          <a:prstGeom prst="ellipse">
            <a:avLst/>
          </a:prstGeom>
          <a:solidFill>
            <a:schemeClr val="accent2"/>
          </a:solidFill>
          <a:ln/>
        </p:spPr>
      </p:sp>
      <p:pic>
        <p:nvPicPr>
          <p:cNvPr id="4" name="Eval 1 icon" descr="preencoded.png">    </p:cNvPr>
          <p:cNvPicPr>
            <a:picLocks noChangeAspect="1"/>
          </p:cNvPicPr>
          <p:nvPr/>
        </p:nvPicPr>
        <p:blipFill>
          <a:blip r:embed="rId1"/>
          <a:stretch>
            <a:fillRect/>
          </a:stretch>
        </p:blipFill>
        <p:spPr>
          <a:xfrm>
            <a:off x="605790" y="1291590"/>
            <a:ext cx="297180" cy="297180"/>
          </a:xfrm>
          <a:prstGeom prst="rect">
            <a:avLst/>
          </a:prstGeom>
        </p:spPr>
      </p:pic>
      <p:sp>
        <p:nvSpPr>
          <p:cNvPr id="5" name="Eval 1 title"/>
          <p:cNvSpPr txBox="1"/>
          <p:nvPr/>
        </p:nvSpPr>
        <p:spPr>
          <a:xfrm>
            <a:off x="1234440" y="1097280"/>
            <a:ext cx="3108960" cy="320040"/>
          </a:xfrm>
          <a:prstGeom prst="rect">
            <a:avLst/>
          </a:prstGeom>
          <a:noFill/>
          <a:ln/>
        </p:spPr>
        <p:txBody>
          <a:bodyPr wrap="square" lIns="0" tIns="0" rIns="0" bIns="0" rtlCol="0" anchor="t"/>
          <a:lstStyle/>
          <a:p>
            <a:pPr indent="0" marL="0">
              <a:buNone/>
            </a:pPr>
            <a:r>
              <a:rPr lang="en-US" sz="1600" b="1" dirty="0">
                <a:solidFill>
                  <a:schemeClr val="tx1"/>
                </a:solidFill>
              </a:rPr>
              <a:t>461 test queries</a:t>
            </a:r>
            <a:endParaRPr lang="en-US" sz="1600" dirty="0"/>
          </a:p>
        </p:txBody>
      </p:sp>
      <p:sp>
        <p:nvSpPr>
          <p:cNvPr id="6" name="Eval 1 text"/>
          <p:cNvSpPr txBox="1"/>
          <p:nvPr/>
        </p:nvSpPr>
        <p:spPr>
          <a:xfrm>
            <a:off x="1234440" y="1426464"/>
            <a:ext cx="3291840" cy="502920"/>
          </a:xfrm>
          <a:prstGeom prst="rect">
            <a:avLst/>
          </a:prstGeom>
          <a:noFill/>
          <a:ln/>
        </p:spPr>
        <p:txBody>
          <a:bodyPr wrap="square" lIns="0" tIns="0" rIns="0" bIns="0" rtlCol="0" anchor="t"/>
          <a:lstStyle/>
          <a:p>
            <a:pPr indent="0" marL="0">
              <a:buNone/>
            </a:pPr>
            <a:r>
              <a:rPr lang="en-US" sz="1250" dirty="0">
                <a:solidFill>
                  <a:schemeClr val="tx2"/>
                </a:solidFill>
              </a:rPr>
              <a:t>English and Nepali district queries, provinces, names, typos, website names</a:t>
            </a:r>
            <a:endParaRPr lang="en-US" sz="1250" dirty="0"/>
          </a:p>
        </p:txBody>
      </p:sp>
      <p:sp>
        <p:nvSpPr>
          <p:cNvPr id="7" name="Eval 2 circle"/>
          <p:cNvSpPr/>
          <p:nvPr/>
        </p:nvSpPr>
        <p:spPr>
          <a:xfrm>
            <a:off x="457200" y="2029968"/>
            <a:ext cx="594360" cy="594360"/>
          </a:xfrm>
          <a:prstGeom prst="ellipse">
            <a:avLst/>
          </a:prstGeom>
          <a:solidFill>
            <a:schemeClr val="accent2"/>
          </a:solidFill>
          <a:ln/>
        </p:spPr>
      </p:sp>
      <p:pic>
        <p:nvPicPr>
          <p:cNvPr id="8" name="Eval 2 icon" descr="preencoded.png">    </p:cNvPr>
          <p:cNvPicPr>
            <a:picLocks noChangeAspect="1"/>
          </p:cNvPicPr>
          <p:nvPr/>
        </p:nvPicPr>
        <p:blipFill>
          <a:blip r:embed="rId2"/>
          <a:stretch>
            <a:fillRect/>
          </a:stretch>
        </p:blipFill>
        <p:spPr>
          <a:xfrm>
            <a:off x="605790" y="2178558"/>
            <a:ext cx="297180" cy="297180"/>
          </a:xfrm>
          <a:prstGeom prst="rect">
            <a:avLst/>
          </a:prstGeom>
        </p:spPr>
      </p:pic>
      <p:sp>
        <p:nvSpPr>
          <p:cNvPr id="9" name="Eval 2 title"/>
          <p:cNvSpPr txBox="1"/>
          <p:nvPr/>
        </p:nvSpPr>
        <p:spPr>
          <a:xfrm>
            <a:off x="1234440" y="1984248"/>
            <a:ext cx="3108960" cy="320040"/>
          </a:xfrm>
          <a:prstGeom prst="rect">
            <a:avLst/>
          </a:prstGeom>
          <a:noFill/>
          <a:ln/>
        </p:spPr>
        <p:txBody>
          <a:bodyPr wrap="square" lIns="0" tIns="0" rIns="0" bIns="0" rtlCol="0" anchor="t"/>
          <a:lstStyle/>
          <a:p>
            <a:pPr indent="0" marL="0">
              <a:buNone/>
            </a:pPr>
            <a:r>
              <a:rPr lang="en-US" sz="1600" b="1" dirty="0">
                <a:solidFill>
                  <a:schemeClr val="tx1"/>
                </a:solidFill>
              </a:rPr>
              <a:t>11 measures</a:t>
            </a:r>
            <a:endParaRPr lang="en-US" sz="1600" dirty="0"/>
          </a:p>
        </p:txBody>
      </p:sp>
      <p:sp>
        <p:nvSpPr>
          <p:cNvPr id="10" name="Eval 2 text"/>
          <p:cNvSpPr txBox="1"/>
          <p:nvPr/>
        </p:nvSpPr>
        <p:spPr>
          <a:xfrm>
            <a:off x="1234440" y="2313432"/>
            <a:ext cx="3291840" cy="502920"/>
          </a:xfrm>
          <a:prstGeom prst="rect">
            <a:avLst/>
          </a:prstGeom>
          <a:noFill/>
          <a:ln/>
        </p:spPr>
        <p:txBody>
          <a:bodyPr wrap="square" lIns="0" tIns="0" rIns="0" bIns="0" rtlCol="0" anchor="t"/>
          <a:lstStyle/>
          <a:p>
            <a:pPr indent="0" marL="0">
              <a:buNone/>
            </a:pPr>
            <a:r>
              <a:rPr lang="en-US" sz="1250" dirty="0">
                <a:solidFill>
                  <a:schemeClr val="tx2"/>
                </a:solidFill>
              </a:rPr>
              <a:t>Precision, recall, F1, R-Precision, MAP, MRR, Success@1 and graded nDCG</a:t>
            </a:r>
            <a:endParaRPr lang="en-US" sz="1250" dirty="0"/>
          </a:p>
        </p:txBody>
      </p:sp>
      <p:sp>
        <p:nvSpPr>
          <p:cNvPr id="11" name="Eval 3 circle"/>
          <p:cNvSpPr/>
          <p:nvPr/>
        </p:nvSpPr>
        <p:spPr>
          <a:xfrm>
            <a:off x="457200" y="2916936"/>
            <a:ext cx="594360" cy="594360"/>
          </a:xfrm>
          <a:prstGeom prst="ellipse">
            <a:avLst/>
          </a:prstGeom>
          <a:solidFill>
            <a:schemeClr val="accent2"/>
          </a:solidFill>
          <a:ln/>
        </p:spPr>
      </p:sp>
      <p:pic>
        <p:nvPicPr>
          <p:cNvPr id="12" name="Eval 3 icon" descr="preencoded.png">    </p:cNvPr>
          <p:cNvPicPr>
            <a:picLocks noChangeAspect="1"/>
          </p:cNvPicPr>
          <p:nvPr/>
        </p:nvPicPr>
        <p:blipFill>
          <a:blip r:embed="rId3"/>
          <a:stretch>
            <a:fillRect/>
          </a:stretch>
        </p:blipFill>
        <p:spPr>
          <a:xfrm>
            <a:off x="605790" y="3065526"/>
            <a:ext cx="297180" cy="297180"/>
          </a:xfrm>
          <a:prstGeom prst="rect">
            <a:avLst/>
          </a:prstGeom>
        </p:spPr>
      </p:pic>
      <p:sp>
        <p:nvSpPr>
          <p:cNvPr id="13" name="Eval 3 title"/>
          <p:cNvSpPr txBox="1"/>
          <p:nvPr/>
        </p:nvSpPr>
        <p:spPr>
          <a:xfrm>
            <a:off x="1234440" y="2871216"/>
            <a:ext cx="3108960" cy="320040"/>
          </a:xfrm>
          <a:prstGeom prst="rect">
            <a:avLst/>
          </a:prstGeom>
          <a:noFill/>
          <a:ln/>
        </p:spPr>
        <p:txBody>
          <a:bodyPr wrap="square" lIns="0" tIns="0" rIns="0" bIns="0" rtlCol="0" anchor="t"/>
          <a:lstStyle/>
          <a:p>
            <a:pPr indent="0" marL="0">
              <a:buNone/>
            </a:pPr>
            <a:r>
              <a:rPr lang="en-US" sz="1600" b="1" dirty="0">
                <a:solidFill>
                  <a:schemeClr val="tx1"/>
                </a:solidFill>
              </a:rPr>
              <a:t>Significance</a:t>
            </a:r>
            <a:endParaRPr lang="en-US" sz="1600" dirty="0"/>
          </a:p>
        </p:txBody>
      </p:sp>
      <p:sp>
        <p:nvSpPr>
          <p:cNvPr id="14" name="Eval 3 text"/>
          <p:cNvSpPr txBox="1"/>
          <p:nvPr/>
        </p:nvSpPr>
        <p:spPr>
          <a:xfrm>
            <a:off x="1234440" y="3200400"/>
            <a:ext cx="3291840" cy="502920"/>
          </a:xfrm>
          <a:prstGeom prst="rect">
            <a:avLst/>
          </a:prstGeom>
          <a:noFill/>
          <a:ln/>
        </p:spPr>
        <p:txBody>
          <a:bodyPr wrap="square" lIns="0" tIns="0" rIns="0" bIns="0" rtlCol="0" anchor="t"/>
          <a:lstStyle/>
          <a:p>
            <a:pPr indent="0" marL="0">
              <a:buNone/>
            </a:pPr>
            <a:r>
              <a:rPr lang="en-US" sz="1250" dirty="0">
                <a:solidFill>
                  <a:schemeClr val="tx2"/>
                </a:solidFill>
              </a:rPr>
              <a:t>Paired randomisation test against BM25F, 10,000 permutations</a:t>
            </a:r>
            <a:endParaRPr lang="en-US" sz="1250" dirty="0"/>
          </a:p>
        </p:txBody>
      </p:sp>
      <p:sp>
        <p:nvSpPr>
          <p:cNvPr id="15" name="Eval 4 circle"/>
          <p:cNvSpPr/>
          <p:nvPr/>
        </p:nvSpPr>
        <p:spPr>
          <a:xfrm>
            <a:off x="457200" y="3803904"/>
            <a:ext cx="594360" cy="594360"/>
          </a:xfrm>
          <a:prstGeom prst="ellipse">
            <a:avLst/>
          </a:prstGeom>
          <a:solidFill>
            <a:schemeClr val="accent2"/>
          </a:solidFill>
          <a:ln/>
        </p:spPr>
      </p:sp>
      <p:pic>
        <p:nvPicPr>
          <p:cNvPr id="16" name="Eval 4 icon" descr="preencoded.png">    </p:cNvPr>
          <p:cNvPicPr>
            <a:picLocks noChangeAspect="1"/>
          </p:cNvPicPr>
          <p:nvPr/>
        </p:nvPicPr>
        <p:blipFill>
          <a:blip r:embed="rId4"/>
          <a:stretch>
            <a:fillRect/>
          </a:stretch>
        </p:blipFill>
        <p:spPr>
          <a:xfrm>
            <a:off x="605790" y="3952494"/>
            <a:ext cx="297180" cy="297180"/>
          </a:xfrm>
          <a:prstGeom prst="rect">
            <a:avLst/>
          </a:prstGeom>
        </p:spPr>
      </p:pic>
      <p:sp>
        <p:nvSpPr>
          <p:cNvPr id="17" name="Eval 4 title"/>
          <p:cNvSpPr txBox="1"/>
          <p:nvPr/>
        </p:nvSpPr>
        <p:spPr>
          <a:xfrm>
            <a:off x="1234440" y="3758184"/>
            <a:ext cx="3108960" cy="320040"/>
          </a:xfrm>
          <a:prstGeom prst="rect">
            <a:avLst/>
          </a:prstGeom>
          <a:noFill/>
          <a:ln/>
        </p:spPr>
        <p:txBody>
          <a:bodyPr wrap="square" lIns="0" tIns="0" rIns="0" bIns="0" rtlCol="0" anchor="t"/>
          <a:lstStyle/>
          <a:p>
            <a:pPr indent="0" marL="0">
              <a:buNone/>
            </a:pPr>
            <a:r>
              <a:rPr lang="en-US" sz="1600" b="1" dirty="0">
                <a:solidFill>
                  <a:schemeClr val="tx1"/>
                </a:solidFill>
              </a:rPr>
              <a:t>Fair tuning</a:t>
            </a:r>
            <a:endParaRPr lang="en-US" sz="1600" dirty="0"/>
          </a:p>
        </p:txBody>
      </p:sp>
      <p:sp>
        <p:nvSpPr>
          <p:cNvPr id="18" name="Eval 4 text"/>
          <p:cNvSpPr txBox="1"/>
          <p:nvPr/>
        </p:nvSpPr>
        <p:spPr>
          <a:xfrm>
            <a:off x="1234440" y="4087368"/>
            <a:ext cx="3291840" cy="502920"/>
          </a:xfrm>
          <a:prstGeom prst="rect">
            <a:avLst/>
          </a:prstGeom>
          <a:noFill/>
          <a:ln/>
        </p:spPr>
        <p:txBody>
          <a:bodyPr wrap="square" lIns="0" tIns="0" rIns="0" bIns="0" rtlCol="0" anchor="t"/>
          <a:lstStyle/>
          <a:p>
            <a:pPr indent="0" marL="0">
              <a:buNone/>
            </a:pPr>
            <a:r>
              <a:rPr lang="en-US" sz="1250" dirty="0">
                <a:solidFill>
                  <a:schemeClr val="tx2"/>
                </a:solidFill>
              </a:rPr>
              <a:t>BM25 k1 and b chosen on 232 dev queries, reported on 229 unseen test queries</a:t>
            </a:r>
            <a:endParaRPr lang="en-US" sz="1250" dirty="0"/>
          </a:p>
        </p:txBody>
      </p:sp>
      <p:sp>
        <p:nvSpPr>
          <p:cNvPr id="19" name="Grades card"/>
          <p:cNvSpPr/>
          <p:nvPr/>
        </p:nvSpPr>
        <p:spPr>
          <a:xfrm>
            <a:off x="4937760" y="1097280"/>
            <a:ext cx="3749040" cy="3429000"/>
          </a:xfrm>
          <a:prstGeom prst="roundRect">
            <a:avLst>
              <a:gd name="adj" fmla="val 2133"/>
            </a:avLst>
          </a:prstGeom>
          <a:solidFill>
            <a:schemeClr val="bg2"/>
          </a:solidFill>
          <a:ln/>
        </p:spPr>
      </p:sp>
      <p:sp>
        <p:nvSpPr>
          <p:cNvPr id="20" name="Grades title"/>
          <p:cNvSpPr txBox="1"/>
          <p:nvPr/>
        </p:nvSpPr>
        <p:spPr>
          <a:xfrm>
            <a:off x="5166360" y="1234440"/>
            <a:ext cx="3291840" cy="365760"/>
          </a:xfrm>
          <a:prstGeom prst="rect">
            <a:avLst/>
          </a:prstGeom>
          <a:noFill/>
          <a:ln/>
        </p:spPr>
        <p:txBody>
          <a:bodyPr wrap="square" lIns="0" tIns="0" rIns="0" bIns="0" rtlCol="0" anchor="t"/>
          <a:lstStyle/>
          <a:p>
            <a:pPr indent="0" marL="0">
              <a:buNone/>
            </a:pPr>
            <a:r>
              <a:rPr lang="en-US" sz="1600" b="1" dirty="0">
                <a:solidFill>
                  <a:schemeClr val="tx1"/>
                </a:solidFill>
              </a:rPr>
              <a:t>Graded relevance</a:t>
            </a:r>
            <a:endParaRPr lang="en-US" sz="1600" dirty="0"/>
          </a:p>
        </p:txBody>
      </p:sp>
      <p:sp>
        <p:nvSpPr>
          <p:cNvPr id="21" name="Grades text"/>
          <p:cNvSpPr txBox="1"/>
          <p:nvPr/>
        </p:nvSpPr>
        <p:spPr>
          <a:xfrm>
            <a:off x="5166360" y="1691640"/>
            <a:ext cx="3291840" cy="2651760"/>
          </a:xfrm>
          <a:prstGeom prst="rect">
            <a:avLst/>
          </a:prstGeom>
          <a:noFill/>
          <a:ln/>
        </p:spPr>
        <p:txBody>
          <a:bodyPr wrap="square" lIns="0" tIns="0" rIns="0" bIns="0" rtlCol="0" anchor="t"/>
          <a:lstStyle/>
          <a:p>
            <a:pPr indent="0" marL="0">
              <a:spcAft>
                <a:spcPts val="900"/>
              </a:spcAft>
              <a:buNone/>
            </a:pPr>
            <a:r>
              <a:rPr lang="en-US" sz="1400" b="1" dirty="0">
                <a:solidFill>
                  <a:schemeClr val="tx1"/>
                </a:solidFill>
              </a:rPr>
              <a:t>Query: </a:t>
            </a:r>
            <a:pPr indent="0" marL="0">
              <a:spcAft>
                <a:spcPts val="900"/>
              </a:spcAft>
              <a:buNone/>
            </a:pPr>
            <a:r>
              <a:rPr lang="en-US" sz="1400" i="1" dirty="0">
                <a:solidFill>
                  <a:schemeClr val="tx1"/>
                </a:solidFill>
              </a:rPr>
              <a:t>local governments in Kaski district</a:t>
            </a:r>
            <a:endParaRPr lang="en-US" sz="1400" dirty="0"/>
          </a:p>
          <a:p>
            <a:pPr indent="0" marL="0">
              <a:spcAft>
                <a:spcPts val="900"/>
              </a:spcAft>
              <a:buNone/>
            </a:pPr>
            <a:r>
              <a:rPr lang="en-US" sz="1400" b="1" dirty="0">
                <a:solidFill>
                  <a:schemeClr val="accent3"/>
                </a:solidFill>
              </a:rPr>
              <a:t>Grade 2 (relevant): </a:t>
            </a:r>
            <a:pPr indent="0" marL="0">
              <a:spcAft>
                <a:spcPts val="900"/>
              </a:spcAft>
              <a:buNone/>
            </a:pPr>
            <a:r>
              <a:rPr lang="en-US" sz="1400" dirty="0">
                <a:solidFill>
                  <a:schemeClr val="tx1"/>
                </a:solidFill>
              </a:rPr>
              <a:t>Pokhara Metropolitan City, Rupa Rural Municipality …</a:t>
            </a:r>
            <a:endParaRPr lang="en-US" sz="1400" dirty="0"/>
          </a:p>
          <a:p>
            <a:pPr indent="0" marL="0">
              <a:spcAft>
                <a:spcPts val="900"/>
              </a:spcAft>
              <a:buNone/>
            </a:pPr>
            <a:r>
              <a:rPr lang="en-US" sz="1400" b="1" dirty="0">
                <a:solidFill>
                  <a:schemeClr val="accent4"/>
                </a:solidFill>
              </a:rPr>
              <a:t>Grade 1 (partial): </a:t>
            </a:r>
            <a:pPr indent="0" marL="0">
              <a:spcAft>
                <a:spcPts val="900"/>
              </a:spcAft>
              <a:buNone/>
            </a:pPr>
            <a:r>
              <a:rPr lang="en-US" sz="1400" dirty="0">
                <a:solidFill>
                  <a:schemeClr val="tx1"/>
                </a:solidFill>
              </a:rPr>
              <a:t>the Kaski District page, which lists them</a:t>
            </a:r>
            <a:endParaRPr lang="en-US" sz="1400" dirty="0"/>
          </a:p>
          <a:p>
            <a:pPr indent="0" marL="0">
              <a:spcAft>
                <a:spcPts val="900"/>
              </a:spcAft>
              <a:buNone/>
            </a:pPr>
            <a:r>
              <a:rPr lang="en-US" sz="1400" b="1" dirty="0">
                <a:solidFill>
                  <a:schemeClr val="accent5"/>
                </a:solidFill>
              </a:rPr>
              <a:t>Grade 0: </a:t>
            </a:r>
            <a:pPr indent="0" marL="0">
              <a:spcAft>
                <a:spcPts val="900"/>
              </a:spcAft>
              <a:buNone/>
            </a:pPr>
            <a:r>
              <a:rPr lang="en-US" sz="1400" dirty="0">
                <a:solidFill>
                  <a:schemeClr val="tx1"/>
                </a:solidFill>
              </a:rPr>
              <a:t>everything else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Results: expansion and tuning lift every score</a:t>
            </a:r>
            <a:endParaRPr lang="en-US" sz="3000" dirty="0"/>
          </a:p>
        </p:txBody>
      </p:sp>
      <p:graphicFrame>
        <p:nvGraphicFramePr>
          <p:cNvPr id="3" name="Results chart" descr=""/>
          <p:cNvGraphicFramePr/>
          <p:nvPr/>
        </p:nvGraphicFramePr>
        <p:xfrm>
          <a:off x="365760" y="1005840"/>
          <a:ext cx="5760720" cy="3840480"/>
        </p:xfrm>
        <a:graphic xmlns:a="http://schemas.openxmlformats.org/drawingml/2006/main">
          <a:graphicData uri="http://schemas.openxmlformats.org/drawingml/2006/chart">
            <c:chart xmlns:c="http://schemas.openxmlformats.org/drawingml/2006/chart" r:id="rId1"/>
          </a:graphicData>
        </a:graphic>
      </p:graphicFrame>
      <p:sp>
        <p:nvSpPr>
          <p:cNvPr id="4" name="Best run card"/>
          <p:cNvSpPr/>
          <p:nvPr/>
        </p:nvSpPr>
        <p:spPr>
          <a:xfrm>
            <a:off x="6355080" y="1097280"/>
            <a:ext cx="2331720" cy="3611880"/>
          </a:xfrm>
          <a:prstGeom prst="roundRect">
            <a:avLst>
              <a:gd name="adj" fmla="val 3137"/>
            </a:avLst>
          </a:prstGeom>
          <a:solidFill>
            <a:schemeClr val="bg2"/>
          </a:solidFill>
          <a:ln/>
        </p:spPr>
      </p:sp>
      <p:sp>
        <p:nvSpPr>
          <p:cNvPr id="5" name="Best run label"/>
          <p:cNvSpPr txBox="1"/>
          <p:nvPr/>
        </p:nvSpPr>
        <p:spPr>
          <a:xfrm>
            <a:off x="6537960" y="1234440"/>
            <a:ext cx="1965960" cy="320040"/>
          </a:xfrm>
          <a:prstGeom prst="rect">
            <a:avLst/>
          </a:prstGeom>
          <a:noFill/>
          <a:ln/>
        </p:spPr>
        <p:txBody>
          <a:bodyPr wrap="square" lIns="0" tIns="0" rIns="0" bIns="0" rtlCol="0" anchor="t"/>
          <a:lstStyle/>
          <a:p>
            <a:pPr indent="0" marL="0">
              <a:buNone/>
            </a:pPr>
            <a:r>
              <a:rPr lang="en-US" sz="1400" dirty="0">
                <a:solidFill>
                  <a:schemeClr val="tx2"/>
                </a:solidFill>
              </a:rPr>
              <a:t>Best run</a:t>
            </a:r>
            <a:endParaRPr lang="en-US" sz="1400" dirty="0"/>
          </a:p>
        </p:txBody>
      </p:sp>
      <p:sp>
        <p:nvSpPr>
          <p:cNvPr id="6" name="Best run name"/>
          <p:cNvSpPr txBox="1"/>
          <p:nvPr/>
        </p:nvSpPr>
        <p:spPr>
          <a:xfrm>
            <a:off x="6537960" y="1554480"/>
            <a:ext cx="1965960" cy="594360"/>
          </a:xfrm>
          <a:prstGeom prst="rect">
            <a:avLst/>
          </a:prstGeom>
          <a:noFill/>
          <a:ln/>
        </p:spPr>
        <p:txBody>
          <a:bodyPr wrap="square" lIns="0" tIns="0" rIns="0" bIns="0" rtlCol="0" anchor="t"/>
          <a:lstStyle/>
          <a:p>
            <a:pPr indent="0" marL="0">
              <a:buNone/>
            </a:pPr>
            <a:r>
              <a:rPr lang="en-US" sz="1500" b="1" dirty="0">
                <a:solidFill>
                  <a:schemeClr val="tx1"/>
                </a:solidFill>
              </a:rPr>
              <a:t>BM25F + expansion, tuned</a:t>
            </a:r>
            <a:endParaRPr lang="en-US" sz="1500" dirty="0"/>
          </a:p>
        </p:txBody>
      </p:sp>
      <p:sp>
        <p:nvSpPr>
          <p:cNvPr id="7" name="Best MAP value"/>
          <p:cNvSpPr txBox="1"/>
          <p:nvPr/>
        </p:nvSpPr>
        <p:spPr>
          <a:xfrm>
            <a:off x="6537960" y="2240280"/>
            <a:ext cx="196596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0.865</a:t>
            </a:r>
            <a:endParaRPr lang="en-US" sz="2800" dirty="0"/>
          </a:p>
        </p:txBody>
      </p:sp>
      <p:sp>
        <p:nvSpPr>
          <p:cNvPr id="8" name="Best MAP label"/>
          <p:cNvSpPr txBox="1"/>
          <p:nvPr/>
        </p:nvSpPr>
        <p:spPr>
          <a:xfrm>
            <a:off x="6537960" y="2679192"/>
            <a:ext cx="1965960" cy="274320"/>
          </a:xfrm>
          <a:prstGeom prst="rect">
            <a:avLst/>
          </a:prstGeom>
          <a:noFill/>
          <a:ln/>
        </p:spPr>
        <p:txBody>
          <a:bodyPr wrap="square" lIns="0" tIns="0" rIns="0" bIns="0" rtlCol="0" anchor="t"/>
          <a:lstStyle/>
          <a:p>
            <a:pPr indent="0" marL="0">
              <a:buNone/>
            </a:pPr>
            <a:r>
              <a:rPr lang="en-US" sz="1200" dirty="0">
                <a:solidFill>
                  <a:schemeClr val="tx2"/>
                </a:solidFill>
              </a:rPr>
              <a:t>MAP</a:t>
            </a:r>
            <a:endParaRPr lang="en-US" sz="1200" dirty="0"/>
          </a:p>
        </p:txBody>
      </p:sp>
      <p:sp>
        <p:nvSpPr>
          <p:cNvPr id="9" name="Best nDCG@10 value"/>
          <p:cNvSpPr txBox="1"/>
          <p:nvPr/>
        </p:nvSpPr>
        <p:spPr>
          <a:xfrm>
            <a:off x="6537960" y="3017520"/>
            <a:ext cx="196596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0.889</a:t>
            </a:r>
            <a:endParaRPr lang="en-US" sz="2800" dirty="0"/>
          </a:p>
        </p:txBody>
      </p:sp>
      <p:sp>
        <p:nvSpPr>
          <p:cNvPr id="10" name="Best nDCG@10 label"/>
          <p:cNvSpPr txBox="1"/>
          <p:nvPr/>
        </p:nvSpPr>
        <p:spPr>
          <a:xfrm>
            <a:off x="6537960" y="3456432"/>
            <a:ext cx="1965960" cy="274320"/>
          </a:xfrm>
          <a:prstGeom prst="rect">
            <a:avLst/>
          </a:prstGeom>
          <a:noFill/>
          <a:ln/>
        </p:spPr>
        <p:txBody>
          <a:bodyPr wrap="square" lIns="0" tIns="0" rIns="0" bIns="0" rtlCol="0" anchor="t"/>
          <a:lstStyle/>
          <a:p>
            <a:pPr indent="0" marL="0">
              <a:buNone/>
            </a:pPr>
            <a:r>
              <a:rPr lang="en-US" sz="1200" dirty="0">
                <a:solidFill>
                  <a:schemeClr val="tx2"/>
                </a:solidFill>
              </a:rPr>
              <a:t>nDCG@10</a:t>
            </a:r>
            <a:endParaRPr lang="en-US" sz="1200" dirty="0"/>
          </a:p>
        </p:txBody>
      </p:sp>
      <p:sp>
        <p:nvSpPr>
          <p:cNvPr id="11" name="Best MRR value"/>
          <p:cNvSpPr txBox="1"/>
          <p:nvPr/>
        </p:nvSpPr>
        <p:spPr>
          <a:xfrm>
            <a:off x="6537960" y="3794760"/>
            <a:ext cx="196596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0.827</a:t>
            </a:r>
            <a:endParaRPr lang="en-US" sz="2800" dirty="0"/>
          </a:p>
        </p:txBody>
      </p:sp>
      <p:sp>
        <p:nvSpPr>
          <p:cNvPr id="12" name="Best MRR label"/>
          <p:cNvSpPr txBox="1"/>
          <p:nvPr/>
        </p:nvSpPr>
        <p:spPr>
          <a:xfrm>
            <a:off x="6537960" y="4233672"/>
            <a:ext cx="1965960" cy="274320"/>
          </a:xfrm>
          <a:prstGeom prst="rect">
            <a:avLst/>
          </a:prstGeom>
          <a:noFill/>
          <a:ln/>
        </p:spPr>
        <p:txBody>
          <a:bodyPr wrap="square" lIns="0" tIns="0" rIns="0" bIns="0" rtlCol="0" anchor="t"/>
          <a:lstStyle/>
          <a:p>
            <a:pPr indent="0" marL="0">
              <a:buNone/>
            </a:pPr>
            <a:r>
              <a:rPr lang="en-US" sz="1200" dirty="0">
                <a:solidFill>
                  <a:schemeClr val="tx2"/>
                </a:solidFill>
              </a:rPr>
              <a:t>MRR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Major findings</a:t>
            </a:r>
            <a:endParaRPr lang="en-US" sz="3000" dirty="0"/>
          </a:p>
        </p:txBody>
      </p:sp>
      <p:sp>
        <p:nvSpPr>
          <p:cNvPr id="3" name="Finding 1 card"/>
          <p:cNvSpPr/>
          <p:nvPr/>
        </p:nvSpPr>
        <p:spPr>
          <a:xfrm>
            <a:off x="457200" y="1097280"/>
            <a:ext cx="4023360" cy="1600200"/>
          </a:xfrm>
          <a:prstGeom prst="roundRect">
            <a:avLst>
              <a:gd name="adj" fmla="val 4571"/>
            </a:avLst>
          </a:prstGeom>
          <a:solidFill>
            <a:schemeClr val="bg2"/>
          </a:solidFill>
          <a:ln/>
        </p:spPr>
      </p:sp>
      <p:sp>
        <p:nvSpPr>
          <p:cNvPr id="4" name="Finding 1 value"/>
          <p:cNvSpPr txBox="1"/>
          <p:nvPr/>
        </p:nvSpPr>
        <p:spPr>
          <a:xfrm>
            <a:off x="731520" y="1261872"/>
            <a:ext cx="356616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+0.160</a:t>
            </a:r>
            <a:endParaRPr lang="en-US" sz="3000" dirty="0"/>
          </a:p>
        </p:txBody>
      </p:sp>
      <p:sp>
        <p:nvSpPr>
          <p:cNvPr id="5" name="Finding 1 label"/>
          <p:cNvSpPr txBox="1"/>
          <p:nvPr/>
        </p:nvSpPr>
        <p:spPr>
          <a:xfrm>
            <a:off x="731520" y="1874520"/>
            <a:ext cx="3566160" cy="320040"/>
          </a:xfrm>
          <a:prstGeom prst="rect">
            <a:avLst/>
          </a:prstGeom>
          <a:noFill/>
          <a:ln/>
        </p:spPr>
        <p:txBody>
          <a:bodyPr wrap="square" lIns="0" tIns="0" rIns="0" bIns="0" rtlCol="0" anchor="t"/>
          <a:lstStyle/>
          <a:p>
            <a:pPr indent="0" marL="0">
              <a:buNone/>
            </a:pPr>
            <a:r>
              <a:rPr lang="en-US" sz="1500" b="1" dirty="0">
                <a:solidFill>
                  <a:schemeClr val="tx1"/>
                </a:solidFill>
              </a:rPr>
              <a:t>MAP from query expansion</a:t>
            </a:r>
            <a:endParaRPr lang="en-US" sz="1500" dirty="0"/>
          </a:p>
        </p:txBody>
      </p:sp>
      <p:sp>
        <p:nvSpPr>
          <p:cNvPr id="6" name="Finding 1 detail"/>
          <p:cNvSpPr txBox="1"/>
          <p:nvPr/>
        </p:nvSpPr>
        <p:spPr>
          <a:xfrm>
            <a:off x="731520" y="2194560"/>
            <a:ext cx="3566160" cy="411480"/>
          </a:xfrm>
          <a:prstGeom prst="rect">
            <a:avLst/>
          </a:prstGeom>
          <a:noFill/>
          <a:ln/>
        </p:spPr>
        <p:txBody>
          <a:bodyPr wrap="square" lIns="0" tIns="0" rIns="0" bIns="0" rtlCol="0" anchor="t"/>
          <a:lstStyle/>
          <a:p>
            <a:pPr indent="0" marL="0">
              <a:buNone/>
            </a:pPr>
            <a:r>
              <a:rPr lang="en-US" sz="1250" dirty="0">
                <a:solidFill>
                  <a:schemeClr val="tx2"/>
                </a:solidFill>
              </a:rPr>
              <a:t>Translation and spelling correction; significant, p &lt; .001</a:t>
            </a:r>
            <a:endParaRPr lang="en-US" sz="1250" dirty="0"/>
          </a:p>
        </p:txBody>
      </p:sp>
      <p:sp>
        <p:nvSpPr>
          <p:cNvPr id="7" name="Finding 2 card"/>
          <p:cNvSpPr/>
          <p:nvPr/>
        </p:nvSpPr>
        <p:spPr>
          <a:xfrm>
            <a:off x="4663440" y="1097280"/>
            <a:ext cx="4023360" cy="1600200"/>
          </a:xfrm>
          <a:prstGeom prst="roundRect">
            <a:avLst>
              <a:gd name="adj" fmla="val 4571"/>
            </a:avLst>
          </a:prstGeom>
          <a:solidFill>
            <a:schemeClr val="bg2"/>
          </a:solidFill>
          <a:ln/>
        </p:spPr>
      </p:sp>
      <p:sp>
        <p:nvSpPr>
          <p:cNvPr id="8" name="Finding 2 value"/>
          <p:cNvSpPr txBox="1"/>
          <p:nvPr/>
        </p:nvSpPr>
        <p:spPr>
          <a:xfrm>
            <a:off x="4937760" y="1261872"/>
            <a:ext cx="356616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0.794 → 0.854</a:t>
            </a:r>
            <a:endParaRPr lang="en-US" sz="3000" dirty="0"/>
          </a:p>
        </p:txBody>
      </p:sp>
      <p:sp>
        <p:nvSpPr>
          <p:cNvPr id="9" name="Finding 2 label"/>
          <p:cNvSpPr txBox="1"/>
          <p:nvPr/>
        </p:nvSpPr>
        <p:spPr>
          <a:xfrm>
            <a:off x="4937760" y="1874520"/>
            <a:ext cx="3566160" cy="320040"/>
          </a:xfrm>
          <a:prstGeom prst="rect">
            <a:avLst/>
          </a:prstGeom>
          <a:noFill/>
          <a:ln/>
        </p:spPr>
        <p:txBody>
          <a:bodyPr wrap="square" lIns="0" tIns="0" rIns="0" bIns="0" rtlCol="0" anchor="t"/>
          <a:lstStyle/>
          <a:p>
            <a:pPr indent="0" marL="0">
              <a:buNone/>
            </a:pPr>
            <a:r>
              <a:rPr lang="en-US" sz="1500" b="1" dirty="0">
                <a:solidFill>
                  <a:schemeClr val="tx1"/>
                </a:solidFill>
              </a:rPr>
              <a:t>MAP after tuning BM25</a:t>
            </a:r>
            <a:endParaRPr lang="en-US" sz="1500" dirty="0"/>
          </a:p>
        </p:txBody>
      </p:sp>
      <p:sp>
        <p:nvSpPr>
          <p:cNvPr id="10" name="Finding 2 detail"/>
          <p:cNvSpPr txBox="1"/>
          <p:nvPr/>
        </p:nvSpPr>
        <p:spPr>
          <a:xfrm>
            <a:off x="4937760" y="2194560"/>
            <a:ext cx="3566160" cy="411480"/>
          </a:xfrm>
          <a:prstGeom prst="rect">
            <a:avLst/>
          </a:prstGeom>
          <a:noFill/>
          <a:ln/>
        </p:spPr>
        <p:txBody>
          <a:bodyPr wrap="square" lIns="0" tIns="0" rIns="0" bIns="0" rtlCol="0" anchor="t"/>
          <a:lstStyle/>
          <a:p>
            <a:pPr indent="0" marL="0">
              <a:buNone/>
            </a:pPr>
            <a:r>
              <a:rPr lang="en-US" sz="1250" dirty="0">
                <a:solidFill>
                  <a:schemeClr val="tx2"/>
                </a:solidFill>
              </a:rPr>
              <a:t>k1 = 0.5, b = 0.25, on 229 unseen queries (p &lt; .001)</a:t>
            </a:r>
            <a:endParaRPr lang="en-US" sz="1250" dirty="0"/>
          </a:p>
        </p:txBody>
      </p:sp>
      <p:sp>
        <p:nvSpPr>
          <p:cNvPr id="11" name="Finding 3 card"/>
          <p:cNvSpPr/>
          <p:nvPr/>
        </p:nvSpPr>
        <p:spPr>
          <a:xfrm>
            <a:off x="457200" y="2880360"/>
            <a:ext cx="4023360" cy="1600200"/>
          </a:xfrm>
          <a:prstGeom prst="roundRect">
            <a:avLst>
              <a:gd name="adj" fmla="val 4571"/>
            </a:avLst>
          </a:prstGeom>
          <a:solidFill>
            <a:schemeClr val="bg2"/>
          </a:solidFill>
          <a:ln/>
        </p:spPr>
      </p:sp>
      <p:sp>
        <p:nvSpPr>
          <p:cNvPr id="12" name="Finding 3 value"/>
          <p:cNvSpPr txBox="1"/>
          <p:nvPr/>
        </p:nvSpPr>
        <p:spPr>
          <a:xfrm>
            <a:off x="731520" y="3044952"/>
            <a:ext cx="3566160" cy="59436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0.738</a:t>
            </a:r>
            <a:endParaRPr lang="en-US" sz="3000" dirty="0"/>
          </a:p>
        </p:txBody>
      </p:sp>
      <p:sp>
        <p:nvSpPr>
          <p:cNvPr id="13" name="Finding 3 label"/>
          <p:cNvSpPr txBox="1"/>
          <p:nvPr/>
        </p:nvSpPr>
        <p:spPr>
          <a:xfrm>
            <a:off x="731520" y="3657600"/>
            <a:ext cx="3566160" cy="320040"/>
          </a:xfrm>
          <a:prstGeom prst="rect">
            <a:avLst/>
          </a:prstGeom>
          <a:noFill/>
          <a:ln/>
        </p:spPr>
        <p:txBody>
          <a:bodyPr wrap="square" lIns="0" tIns="0" rIns="0" bIns="0" rtlCol="0" anchor="t"/>
          <a:lstStyle/>
          <a:p>
            <a:pPr indent="0" marL="0">
              <a:buNone/>
            </a:pPr>
            <a:r>
              <a:rPr lang="en-US" sz="1500" b="1" dirty="0">
                <a:solidFill>
                  <a:schemeClr val="tx1"/>
                </a:solidFill>
              </a:rPr>
              <a:t>queries answered at rank 1</a:t>
            </a:r>
            <a:endParaRPr lang="en-US" sz="1500" dirty="0"/>
          </a:p>
        </p:txBody>
      </p:sp>
      <p:sp>
        <p:nvSpPr>
          <p:cNvPr id="14" name="Finding 3 detail"/>
          <p:cNvSpPr txBox="1"/>
          <p:nvPr/>
        </p:nvSpPr>
        <p:spPr>
          <a:xfrm>
            <a:off x="731520" y="3977640"/>
            <a:ext cx="3566160" cy="411480"/>
          </a:xfrm>
          <a:prstGeom prst="rect">
            <a:avLst/>
          </a:prstGeom>
          <a:noFill/>
          <a:ln/>
        </p:spPr>
        <p:txBody>
          <a:bodyPr wrap="square" lIns="0" tIns="0" rIns="0" bIns="0" rtlCol="0" anchor="t"/>
          <a:lstStyle/>
          <a:p>
            <a:pPr indent="0" marL="0">
              <a:buNone/>
            </a:pPr>
            <a:r>
              <a:rPr lang="en-US" sz="1250" dirty="0">
                <a:solidFill>
                  <a:schemeClr val="tx2"/>
                </a:solidFill>
              </a:rPr>
              <a:t>Hybrid RRF puts the right answer first most often (untuned runs)</a:t>
            </a:r>
            <a:endParaRPr lang="en-US" sz="1250" dirty="0"/>
          </a:p>
        </p:txBody>
      </p:sp>
      <p:sp>
        <p:nvSpPr>
          <p:cNvPr id="15" name="Finding 4 card"/>
          <p:cNvSpPr/>
          <p:nvPr/>
        </p:nvSpPr>
        <p:spPr>
          <a:xfrm>
            <a:off x="4663440" y="2880360"/>
            <a:ext cx="4023360" cy="1600200"/>
          </a:xfrm>
          <a:prstGeom prst="roundRect">
            <a:avLst>
              <a:gd name="adj" fmla="val 4571"/>
            </a:avLst>
          </a:prstGeom>
          <a:solidFill>
            <a:schemeClr val="bg2"/>
          </a:solidFill>
          <a:ln/>
        </p:spPr>
      </p:sp>
      <p:sp>
        <p:nvSpPr>
          <p:cNvPr id="16" name="Finding 4 value"/>
          <p:cNvSpPr txBox="1"/>
          <p:nvPr/>
        </p:nvSpPr>
        <p:spPr>
          <a:xfrm>
            <a:off x="4937760" y="3044952"/>
            <a:ext cx="3566160" cy="594360"/>
          </a:xfrm>
          <a:prstGeom prst="rect">
            <a:avLst/>
          </a:prstGeom>
          <a:noFill/>
          <a:ln/>
        </p:spPr>
        <p:txBody>
          <a:bodyPr wrap="square" lIns="0" tIns="0" rIns="0" bIns="0" rtlCol="0" anchor="t"/>
          <a:lstStyle/>
          <a:p>
            <a:pPr indent="0" marL="0">
              <a:buNone/>
            </a:pPr>
            <a:r>
              <a:rPr lang="en-US" sz="3000" b="1" dirty="0">
                <a:solidFill>
                  <a:schemeClr val="accent5"/>
                </a:solidFill>
                <a:latin typeface="Cambria" pitchFamily="34" charset="0"/>
                <a:ea typeface="Cambria" pitchFamily="34" charset="-122"/>
                <a:cs typeface="Cambria" pitchFamily="34" charset="-120"/>
              </a:rPr>
              <a:t>p = 0.21</a:t>
            </a:r>
            <a:endParaRPr lang="en-US" sz="3000" dirty="0"/>
          </a:p>
        </p:txBody>
      </p:sp>
      <p:sp>
        <p:nvSpPr>
          <p:cNvPr id="17" name="Finding 4 label"/>
          <p:cNvSpPr txBox="1"/>
          <p:nvPr/>
        </p:nvSpPr>
        <p:spPr>
          <a:xfrm>
            <a:off x="4937760" y="3657600"/>
            <a:ext cx="3566160" cy="320040"/>
          </a:xfrm>
          <a:prstGeom prst="rect">
            <a:avLst/>
          </a:prstGeom>
          <a:noFill/>
          <a:ln/>
        </p:spPr>
        <p:txBody>
          <a:bodyPr wrap="square" lIns="0" tIns="0" rIns="0" bIns="0" rtlCol="0" anchor="t"/>
          <a:lstStyle/>
          <a:p>
            <a:pPr indent="0" marL="0">
              <a:buNone/>
            </a:pPr>
            <a:r>
              <a:rPr lang="en-US" sz="1500" b="1" dirty="0">
                <a:solidFill>
                  <a:schemeClr val="tx1"/>
                </a:solidFill>
              </a:rPr>
              <a:t>TF-IDF vs BM25F</a:t>
            </a:r>
            <a:endParaRPr lang="en-US" sz="1500" dirty="0"/>
          </a:p>
        </p:txBody>
      </p:sp>
      <p:sp>
        <p:nvSpPr>
          <p:cNvPr id="18" name="Finding 4 detail"/>
          <p:cNvSpPr txBox="1"/>
          <p:nvPr/>
        </p:nvSpPr>
        <p:spPr>
          <a:xfrm>
            <a:off x="4937760" y="3977640"/>
            <a:ext cx="3566160" cy="411480"/>
          </a:xfrm>
          <a:prstGeom prst="rect">
            <a:avLst/>
          </a:prstGeom>
          <a:noFill/>
          <a:ln/>
        </p:spPr>
        <p:txBody>
          <a:bodyPr wrap="square" lIns="0" tIns="0" rIns="0" bIns="0" rtlCol="0" anchor="t"/>
          <a:lstStyle/>
          <a:p>
            <a:pPr indent="0" marL="0">
              <a:buNone/>
            </a:pPr>
            <a:r>
              <a:rPr lang="en-US" sz="1250" dirty="0">
                <a:solidFill>
                  <a:schemeClr val="tx2"/>
                </a:solidFill>
              </a:rPr>
              <a:t>No significant difference: the Week 6 gap was chance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Sample output</a:t>
            </a:r>
            <a:endParaRPr lang="en-US" sz="3000" dirty="0"/>
          </a:p>
        </p:txBody>
      </p:sp>
      <p:sp>
        <p:nvSpPr>
          <p:cNvPr id="3" name="Sample 1 query"/>
          <p:cNvSpPr txBox="1"/>
          <p:nvPr/>
        </p:nvSpPr>
        <p:spPr>
          <a:xfrm>
            <a:off x="457200" y="1051560"/>
            <a:ext cx="4023360" cy="365760"/>
          </a:xfrm>
          <a:prstGeom prst="rect">
            <a:avLst/>
          </a:prstGeom>
          <a:noFill/>
          <a:ln/>
        </p:spPr>
        <p:txBody>
          <a:bodyPr wrap="square" lIns="0" tIns="0" rIns="0" bIns="0" rtlCol="0" anchor="t"/>
          <a:lstStyle/>
          <a:p>
            <a:pPr indent="0" marL="0">
              <a:buNone/>
            </a:pPr>
            <a:r>
              <a:rPr lang="en-US" sz="1500" b="1" dirty="0">
                <a:solidFill>
                  <a:schemeClr val="tx1"/>
                </a:solidFill>
              </a:rPr>
              <a:t>Query: </a:t>
            </a:r>
            <a:pPr indent="0" marL="0">
              <a:buNone/>
            </a:pPr>
            <a:r>
              <a:rPr lang="en-US" sz="1500" b="1" dirty="0">
                <a:solidFill>
                  <a:schemeClr val="accent1"/>
                </a:solidFill>
              </a:rPr>
              <a:t>pokhra news</a:t>
            </a:r>
            <a:endParaRPr lang="en-US" sz="1500" dirty="0"/>
          </a:p>
        </p:txBody>
      </p:sp>
      <p:sp>
        <p:nvSpPr>
          <p:cNvPr id="4" name="Sample 1 expansion"/>
          <p:cNvSpPr txBox="1"/>
          <p:nvPr/>
        </p:nvSpPr>
        <p:spPr>
          <a:xfrm>
            <a:off x="457200" y="1417320"/>
            <a:ext cx="4023360" cy="320040"/>
          </a:xfrm>
          <a:prstGeom prst="rect">
            <a:avLst/>
          </a:prstGeom>
          <a:noFill/>
          <a:ln/>
        </p:spPr>
        <p:txBody>
          <a:bodyPr wrap="square" lIns="0" tIns="0" rIns="0" bIns="0" rtlCol="0" anchor="t"/>
          <a:lstStyle/>
          <a:p>
            <a:pPr indent="0" marL="0">
              <a:buNone/>
            </a:pPr>
            <a:r>
              <a:rPr lang="en-US" sz="1150" i="1" dirty="0">
                <a:solidFill>
                  <a:schemeClr val="tx2"/>
                </a:solidFill>
              </a:rPr>
              <a:t>Expanded: pokhra → pokhara;  news → समाचार</a:t>
            </a:r>
            <a:endParaRPr lang="en-US" sz="1150" dirty="0"/>
          </a:p>
        </p:txBody>
      </p:sp>
      <p:graphicFrame>
        <p:nvGraphicFramePr>
          <p:cNvPr id="10" name="Sample 1 table"/>
          <p:cNvGraphicFramePr>
            <a:graphicFrameLocks noGrp="1"/>
          </p:cNvGraphicFramePr>
          <p:nvPr>
            <p:extLst>
              <p:ext uri="{D42A27DB-BD31-4B8C-83A1-F6EECF244321}">
                <p14:modId xmlns:p14="http://schemas.microsoft.com/office/powerpoint/2010/main" val="1579011935"/>
              </p:ext>
            </p:extLst>
          </p:nvPr>
        </p:nvGraphicFramePr>
        <p:xfrm>
          <a:off x="457200" y="1828800"/>
          <a:ext cx="4023360" cy="914400"/>
        </p:xfrm>
        <a:graphic>
          <a:graphicData uri="http://schemas.openxmlformats.org/drawingml/2006/table">
            <a:tbl>
              <a:tblPr/>
              <a:tblGrid>
                <a:gridCol w="320040"/>
                <a:gridCol w="2514600"/>
                <a:gridCol w="118872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Place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pokharanews.com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pokharatourismnews.com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citypokhara.com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pokharaaaja.com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pokharacity.com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Sample 2 query"/>
          <p:cNvSpPr txBox="1"/>
          <p:nvPr/>
        </p:nvSpPr>
        <p:spPr>
          <a:xfrm>
            <a:off x="4663440" y="1051560"/>
            <a:ext cx="4023360" cy="365760"/>
          </a:xfrm>
          <a:prstGeom prst="rect">
            <a:avLst/>
          </a:prstGeom>
          <a:noFill/>
          <a:ln/>
        </p:spPr>
        <p:txBody>
          <a:bodyPr wrap="square" lIns="0" tIns="0" rIns="0" bIns="0" rtlCol="0" anchor="t"/>
          <a:lstStyle/>
          <a:p>
            <a:pPr indent="0" marL="0">
              <a:buNone/>
            </a:pPr>
            <a:r>
              <a:rPr lang="en-US" sz="1500" b="1" dirty="0">
                <a:solidFill>
                  <a:schemeClr val="tx1"/>
                </a:solidFill>
              </a:rPr>
              <a:t>Query: </a:t>
            </a:r>
            <a:pPr indent="0" marL="0">
              <a:buNone/>
            </a:pPr>
            <a:r>
              <a:rPr lang="en-US" sz="1500" b="1" dirty="0">
                <a:solidFill>
                  <a:schemeClr val="accent1"/>
                </a:solidFill>
              </a:rPr>
              <a:t>कास्कीको स्थानीय तह</a:t>
            </a:r>
            <a:endParaRPr lang="en-US" sz="1500" dirty="0"/>
          </a:p>
        </p:txBody>
      </p:sp>
      <p:sp>
        <p:nvSpPr>
          <p:cNvPr id="7" name="Sample 2 expansion"/>
          <p:cNvSpPr txBox="1"/>
          <p:nvPr/>
        </p:nvSpPr>
        <p:spPr>
          <a:xfrm>
            <a:off x="4663440" y="1417320"/>
            <a:ext cx="4023360" cy="320040"/>
          </a:xfrm>
          <a:prstGeom prst="rect">
            <a:avLst/>
          </a:prstGeom>
          <a:noFill/>
          <a:ln/>
        </p:spPr>
        <p:txBody>
          <a:bodyPr wrap="square" lIns="0" tIns="0" rIns="0" bIns="0" rtlCol="0" anchor="t"/>
          <a:lstStyle/>
          <a:p>
            <a:pPr indent="0" marL="0">
              <a:buNone/>
            </a:pPr>
            <a:r>
              <a:rPr lang="en-US" sz="1150" i="1" dirty="0">
                <a:solidFill>
                  <a:schemeClr val="tx2"/>
                </a:solidFill>
              </a:rPr>
              <a:t>Expanded: स्थानीय तह → local;  स्थानीय तह → govern</a:t>
            </a:r>
            <a:endParaRPr lang="en-US" sz="1150" dirty="0"/>
          </a:p>
        </p:txBody>
      </p:sp>
      <p:graphicFrame>
        <p:nvGraphicFramePr>
          <p:cNvPr id="19" name="Sample 2 table"/>
          <p:cNvGraphicFramePr>
            <a:graphicFrameLocks noGrp="1"/>
          </p:cNvGraphicFramePr>
          <p:nvPr>
            <p:extLst>
              <p:ext uri="{D42A27DB-BD31-4B8C-83A1-F6EECF244321}">
                <p14:modId xmlns:p14="http://schemas.microsoft.com/office/powerpoint/2010/main" val="1579011935"/>
              </p:ext>
            </p:extLst>
          </p:nvPr>
        </p:nvGraphicFramePr>
        <p:xfrm>
          <a:off x="4663440" y="1828800"/>
          <a:ext cx="4023360" cy="914400"/>
        </p:xfrm>
        <a:graphic>
          <a:graphicData uri="http://schemas.openxmlformats.org/drawingml/2006/table">
            <a:tbl>
              <a:tblPr/>
              <a:tblGrid>
                <a:gridCol w="320040"/>
                <a:gridCol w="2514600"/>
                <a:gridCol w="118872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Place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Pokhara Metropolitan City</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Machhapuchchhre Rural Mun.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Rupa Rural Mun.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Annapurna Rural Mun.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Madi Rural Mun.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Kaski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9" name="Sample caption"/>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300" dirty="0">
                <a:solidFill>
                  <a:schemeClr val="tx2"/>
                </a:solidFill>
              </a:rPr>
              <a:t>BM25F + expansion (tuned), top 5 of 5,131 and 1,458 matches. The typo is corrected and the Nepali query returns Kaski’s local governments.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Critical analysis</a:t>
            </a:r>
            <a:endParaRPr lang="en-US" sz="3000" dirty="0"/>
          </a:p>
        </p:txBody>
      </p:sp>
      <p:sp>
        <p:nvSpPr>
          <p:cNvPr id="3" name="Strengths card"/>
          <p:cNvSpPr/>
          <p:nvPr/>
        </p:nvSpPr>
        <p:spPr>
          <a:xfrm>
            <a:off x="457200" y="1097280"/>
            <a:ext cx="4023360" cy="3611880"/>
          </a:xfrm>
          <a:prstGeom prst="roundRect">
            <a:avLst>
              <a:gd name="adj" fmla="val 2025"/>
            </a:avLst>
          </a:prstGeom>
          <a:solidFill>
            <a:schemeClr val="bg2"/>
          </a:solidFill>
          <a:ln/>
        </p:spPr>
      </p:sp>
      <p:sp>
        <p:nvSpPr>
          <p:cNvPr id="4" name="Strengths circle"/>
          <p:cNvSpPr/>
          <p:nvPr/>
        </p:nvSpPr>
        <p:spPr>
          <a:xfrm>
            <a:off x="685800" y="1280160"/>
            <a:ext cx="548640" cy="548640"/>
          </a:xfrm>
          <a:prstGeom prst="ellipse">
            <a:avLst/>
          </a:prstGeom>
          <a:solidFill>
            <a:schemeClr val="accent3"/>
          </a:solidFill>
          <a:ln/>
        </p:spPr>
      </p:sp>
      <p:pic>
        <p:nvPicPr>
          <p:cNvPr id="5" name="Strengths icon" descr="preencoded.png">    </p:cNvPr>
          <p:cNvPicPr>
            <a:picLocks noChangeAspect="1"/>
          </p:cNvPicPr>
          <p:nvPr/>
        </p:nvPicPr>
        <p:blipFill>
          <a:blip r:embed="rId1"/>
          <a:stretch>
            <a:fillRect/>
          </a:stretch>
        </p:blipFill>
        <p:spPr>
          <a:xfrm>
            <a:off x="822960" y="1417320"/>
            <a:ext cx="274320" cy="274320"/>
          </a:xfrm>
          <a:prstGeom prst="rect">
            <a:avLst/>
          </a:prstGeom>
        </p:spPr>
      </p:pic>
      <p:sp>
        <p:nvSpPr>
          <p:cNvPr id="6" name="Strengths title"/>
          <p:cNvSpPr txBox="1"/>
          <p:nvPr/>
        </p:nvSpPr>
        <p:spPr>
          <a:xfrm>
            <a:off x="1371600" y="1353312"/>
            <a:ext cx="2926080" cy="411480"/>
          </a:xfrm>
          <a:prstGeom prst="rect">
            <a:avLst/>
          </a:prstGeom>
          <a:noFill/>
          <a:ln/>
        </p:spPr>
        <p:txBody>
          <a:bodyPr wrap="square" lIns="0" tIns="0" rIns="0" bIns="0" rtlCol="0" anchor="t"/>
          <a:lstStyle/>
          <a:p>
            <a:pPr indent="0" marL="0">
              <a:buNone/>
            </a:pPr>
            <a:r>
              <a:rPr lang="en-US" sz="1800" b="1" dirty="0">
                <a:solidFill>
                  <a:schemeClr val="tx1"/>
                </a:solidFill>
              </a:rPr>
              <a:t>What works</a:t>
            </a:r>
            <a:endParaRPr lang="en-US" sz="1800" dirty="0"/>
          </a:p>
        </p:txBody>
      </p:sp>
      <p:sp>
        <p:nvSpPr>
          <p:cNvPr id="7" name="Strengths list"/>
          <p:cNvSpPr txBox="1"/>
          <p:nvPr/>
        </p:nvSpPr>
        <p:spPr>
          <a:xfrm>
            <a:off x="685800" y="2011680"/>
            <a:ext cx="36118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95% of relevant documents found in the top 100 (R@100)</a:t>
            </a:r>
            <a:endParaRPr lang="en-US" sz="1400" dirty="0"/>
          </a:p>
          <a:p>
            <a:pPr marL="342900" indent="-342900">
              <a:spcAft>
                <a:spcPts val="800"/>
              </a:spcAft>
              <a:buSzPct val="100000"/>
              <a:buChar char="•"/>
            </a:pPr>
            <a:r>
              <a:rPr lang="en-US" sz="1400" dirty="0">
                <a:solidFill>
                  <a:schemeClr val="tx1"/>
                </a:solidFill>
              </a:rPr>
              <a:t>Bilingual queries work in both directions</a:t>
            </a:r>
            <a:endParaRPr lang="en-US" sz="1400" dirty="0"/>
          </a:p>
          <a:p>
            <a:pPr marL="342900" indent="-342900">
              <a:spcAft>
                <a:spcPts val="800"/>
              </a:spcAft>
              <a:buSzPct val="100000"/>
              <a:buChar char="•"/>
            </a:pPr>
            <a:r>
              <a:rPr lang="en-US" sz="1400" dirty="0">
                <a:solidFill>
                  <a:schemeClr val="tx1"/>
                </a:solidFill>
              </a:rPr>
              <a:t>Segmentation makes website names findable</a:t>
            </a:r>
            <a:endParaRPr lang="en-US" sz="1400" dirty="0"/>
          </a:p>
          <a:p>
            <a:pPr marL="342900" indent="-342900">
              <a:spcAft>
                <a:spcPts val="800"/>
              </a:spcAft>
              <a:buSzPct val="100000"/>
              <a:buChar char="•"/>
            </a:pPr>
            <a:r>
              <a:rPr lang="en-US" sz="1400" dirty="0">
                <a:solidFill>
                  <a:schemeClr val="tx1"/>
                </a:solidFill>
              </a:rPr>
              <a:t>Fast: median query under 2 ms</a:t>
            </a:r>
            <a:endParaRPr lang="en-US" sz="1400" dirty="0"/>
          </a:p>
        </p:txBody>
      </p:sp>
      <p:sp>
        <p:nvSpPr>
          <p:cNvPr id="8" name="Limits card"/>
          <p:cNvSpPr/>
          <p:nvPr/>
        </p:nvSpPr>
        <p:spPr>
          <a:xfrm>
            <a:off x="4663440" y="1097280"/>
            <a:ext cx="4023360" cy="3611880"/>
          </a:xfrm>
          <a:prstGeom prst="roundRect">
            <a:avLst>
              <a:gd name="adj" fmla="val 2025"/>
            </a:avLst>
          </a:prstGeom>
          <a:solidFill>
            <a:schemeClr val="bg2"/>
          </a:solidFill>
          <a:ln/>
        </p:spPr>
      </p:sp>
      <p:sp>
        <p:nvSpPr>
          <p:cNvPr id="9" name="Limits circle"/>
          <p:cNvSpPr/>
          <p:nvPr/>
        </p:nvSpPr>
        <p:spPr>
          <a:xfrm>
            <a:off x="4892040" y="1280160"/>
            <a:ext cx="548640" cy="548640"/>
          </a:xfrm>
          <a:prstGeom prst="ellipse">
            <a:avLst/>
          </a:prstGeom>
          <a:solidFill>
            <a:schemeClr val="accent1"/>
          </a:solidFill>
          <a:ln/>
        </p:spPr>
      </p:sp>
      <p:pic>
        <p:nvPicPr>
          <p:cNvPr id="10" name="Limits icon" descr="preencoded.png">    </p:cNvPr>
          <p:cNvPicPr>
            <a:picLocks noChangeAspect="1"/>
          </p:cNvPicPr>
          <p:nvPr/>
        </p:nvPicPr>
        <p:blipFill>
          <a:blip r:embed="rId2"/>
          <a:stretch>
            <a:fillRect/>
          </a:stretch>
        </p:blipFill>
        <p:spPr>
          <a:xfrm>
            <a:off x="5029200" y="1417320"/>
            <a:ext cx="274320" cy="274320"/>
          </a:xfrm>
          <a:prstGeom prst="rect">
            <a:avLst/>
          </a:prstGeom>
        </p:spPr>
      </p:pic>
      <p:sp>
        <p:nvSpPr>
          <p:cNvPr id="11" name="Limits title"/>
          <p:cNvSpPr txBox="1"/>
          <p:nvPr/>
        </p:nvSpPr>
        <p:spPr>
          <a:xfrm>
            <a:off x="5577840" y="1353312"/>
            <a:ext cx="2926080" cy="411480"/>
          </a:xfrm>
          <a:prstGeom prst="rect">
            <a:avLst/>
          </a:prstGeom>
          <a:noFill/>
          <a:ln/>
        </p:spPr>
        <p:txBody>
          <a:bodyPr wrap="square" lIns="0" tIns="0" rIns="0" bIns="0" rtlCol="0" anchor="t"/>
          <a:lstStyle/>
          <a:p>
            <a:pPr indent="0" marL="0">
              <a:buNone/>
            </a:pPr>
            <a:r>
              <a:rPr lang="en-US" sz="1800" b="1" dirty="0">
                <a:solidFill>
                  <a:schemeClr val="tx1"/>
                </a:solidFill>
              </a:rPr>
              <a:t>Where it falls short</a:t>
            </a:r>
            <a:endParaRPr lang="en-US" sz="1800" dirty="0"/>
          </a:p>
        </p:txBody>
      </p:sp>
      <p:sp>
        <p:nvSpPr>
          <p:cNvPr id="12" name="Limits list"/>
          <p:cNvSpPr txBox="1"/>
          <p:nvPr/>
        </p:nvSpPr>
        <p:spPr>
          <a:xfrm>
            <a:off x="4892040" y="2011680"/>
            <a:ext cx="36118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All 25 total failures are short typos (“Bei” for Beni)</a:t>
            </a:r>
            <a:endParaRPr lang="en-US" sz="1400" dirty="0"/>
          </a:p>
          <a:p>
            <a:pPr marL="342900" indent="-342900">
              <a:spcAft>
                <a:spcPts val="800"/>
              </a:spcAft>
              <a:buSzPct val="100000"/>
              <a:buChar char="•"/>
            </a:pPr>
            <a:r>
              <a:rPr lang="en-US" sz="1400" dirty="0">
                <a:solidFill>
                  <a:schemeClr val="tx1"/>
                </a:solidFill>
              </a:rPr>
              <a:t>“lumbini news” → lumbinisamachar.com: over-expansion</a:t>
            </a:r>
            <a:endParaRPr lang="en-US" sz="1400" dirty="0"/>
          </a:p>
          <a:p>
            <a:pPr marL="342900" indent="-342900">
              <a:spcAft>
                <a:spcPts val="800"/>
              </a:spcAft>
              <a:buSzPct val="100000"/>
              <a:buChar char="•"/>
            </a:pPr>
            <a:r>
              <a:rPr lang="en-US" sz="1400" dirty="0">
                <a:solidFill>
                  <a:schemeClr val="tx1"/>
                </a:solidFill>
              </a:rPr>
              <a:t>Answers come from metadata; queries follow templates</a:t>
            </a:r>
            <a:endParaRPr lang="en-US" sz="1400" dirty="0"/>
          </a:p>
          <a:p>
            <a:pPr marL="342900" indent="-342900">
              <a:spcAft>
                <a:spcPts val="800"/>
              </a:spcAft>
              <a:buSzPct val="100000"/>
              <a:buChar char="•"/>
            </a:pPr>
            <a:r>
              <a:rPr lang="en-US" sz="1400" dirty="0">
                <a:solidFill>
                  <a:schemeClr val="tx1"/>
                </a:solidFill>
              </a:rPr>
              <a:t>Short documents: names and addresses, not full pages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Recommendations</a:t>
            </a:r>
            <a:endParaRPr lang="en-US" sz="3000" dirty="0"/>
          </a:p>
        </p:txBody>
      </p:sp>
      <p:sp>
        <p:nvSpPr>
          <p:cNvPr id="3" name="Rec 1 circle"/>
          <p:cNvSpPr/>
          <p:nvPr/>
        </p:nvSpPr>
        <p:spPr>
          <a:xfrm>
            <a:off x="457200" y="1143000"/>
            <a:ext cx="685800" cy="685800"/>
          </a:xfrm>
          <a:prstGeom prst="ellipse">
            <a:avLst/>
          </a:prstGeom>
          <a:solidFill>
            <a:schemeClr val="accent2"/>
          </a:solidFill>
          <a:ln/>
        </p:spPr>
      </p:sp>
      <p:pic>
        <p:nvPicPr>
          <p:cNvPr id="4" name="Rec 1 icon" descr="preencoded.png">    </p:cNvPr>
          <p:cNvPicPr>
            <a:picLocks noChangeAspect="1"/>
          </p:cNvPicPr>
          <p:nvPr/>
        </p:nvPicPr>
        <p:blipFill>
          <a:blip r:embed="rId1"/>
          <a:stretch>
            <a:fillRect/>
          </a:stretch>
        </p:blipFill>
        <p:spPr>
          <a:xfrm>
            <a:off x="628650" y="1314450"/>
            <a:ext cx="342900" cy="342900"/>
          </a:xfrm>
          <a:prstGeom prst="rect">
            <a:avLst/>
          </a:prstGeom>
        </p:spPr>
      </p:pic>
      <p:sp>
        <p:nvSpPr>
          <p:cNvPr id="5" name="Rec 1 title"/>
          <p:cNvSpPr txBox="1"/>
          <p:nvPr/>
        </p:nvSpPr>
        <p:spPr>
          <a:xfrm>
            <a:off x="1325880" y="1124712"/>
            <a:ext cx="3108960" cy="594360"/>
          </a:xfrm>
          <a:prstGeom prst="rect">
            <a:avLst/>
          </a:prstGeom>
          <a:noFill/>
          <a:ln/>
        </p:spPr>
        <p:txBody>
          <a:bodyPr wrap="square" lIns="0" tIns="0" rIns="0" bIns="0" rtlCol="0" anchor="t"/>
          <a:lstStyle/>
          <a:p>
            <a:pPr indent="0" marL="0">
              <a:buNone/>
            </a:pPr>
            <a:r>
              <a:rPr lang="en-US" sz="1600" b="1" dirty="0">
                <a:solidFill>
                  <a:schemeClr val="tx1"/>
                </a:solidFill>
              </a:rPr>
              <a:t>Use k1 ≈ 0.5 and b ≈ 0.25</a:t>
            </a:r>
            <a:endParaRPr lang="en-US" sz="1600" dirty="0"/>
          </a:p>
        </p:txBody>
      </p:sp>
      <p:sp>
        <p:nvSpPr>
          <p:cNvPr id="6" name="Rec 1 text"/>
          <p:cNvSpPr txBox="1"/>
          <p:nvPr/>
        </p:nvSpPr>
        <p:spPr>
          <a:xfrm>
            <a:off x="1325880" y="1737360"/>
            <a:ext cx="3108960" cy="777240"/>
          </a:xfrm>
          <a:prstGeom prst="rect">
            <a:avLst/>
          </a:prstGeom>
          <a:noFill/>
          <a:ln/>
        </p:spPr>
        <p:txBody>
          <a:bodyPr wrap="square" lIns="0" tIns="0" rIns="0" bIns="0" rtlCol="0" anchor="t"/>
          <a:lstStyle/>
          <a:p>
            <a:pPr indent="0" marL="0">
              <a:buNone/>
            </a:pPr>
            <a:r>
              <a:rPr lang="en-US" sz="1300" dirty="0">
                <a:solidFill>
                  <a:schemeClr val="tx2"/>
                </a:solidFill>
              </a:rPr>
              <a:t>Short documents need little term-frequency saturation and length normalisation.</a:t>
            </a:r>
            <a:endParaRPr lang="en-US" sz="1300" dirty="0"/>
          </a:p>
        </p:txBody>
      </p:sp>
      <p:sp>
        <p:nvSpPr>
          <p:cNvPr id="7" name="Rec 2 circle"/>
          <p:cNvSpPr/>
          <p:nvPr/>
        </p:nvSpPr>
        <p:spPr>
          <a:xfrm>
            <a:off x="4663440" y="1143000"/>
            <a:ext cx="685800" cy="685800"/>
          </a:xfrm>
          <a:prstGeom prst="ellipse">
            <a:avLst/>
          </a:prstGeom>
          <a:solidFill>
            <a:schemeClr val="accent2"/>
          </a:solidFill>
          <a:ln/>
        </p:spPr>
      </p:sp>
      <p:pic>
        <p:nvPicPr>
          <p:cNvPr id="8" name="Rec 2 icon" descr="preencoded.png">    </p:cNvPr>
          <p:cNvPicPr>
            <a:picLocks noChangeAspect="1"/>
          </p:cNvPicPr>
          <p:nvPr/>
        </p:nvPicPr>
        <p:blipFill>
          <a:blip r:embed="rId2"/>
          <a:stretch>
            <a:fillRect/>
          </a:stretch>
        </p:blipFill>
        <p:spPr>
          <a:xfrm>
            <a:off x="4834890" y="1314450"/>
            <a:ext cx="342900" cy="342900"/>
          </a:xfrm>
          <a:prstGeom prst="rect">
            <a:avLst/>
          </a:prstGeom>
        </p:spPr>
      </p:pic>
      <p:sp>
        <p:nvSpPr>
          <p:cNvPr id="9" name="Rec 2 title"/>
          <p:cNvSpPr txBox="1"/>
          <p:nvPr/>
        </p:nvSpPr>
        <p:spPr>
          <a:xfrm>
            <a:off x="5532120" y="1124712"/>
            <a:ext cx="3108960" cy="594360"/>
          </a:xfrm>
          <a:prstGeom prst="rect">
            <a:avLst/>
          </a:prstGeom>
          <a:noFill/>
          <a:ln/>
        </p:spPr>
        <p:txBody>
          <a:bodyPr wrap="square" lIns="0" tIns="0" rIns="0" bIns="0" rtlCol="0" anchor="t"/>
          <a:lstStyle/>
          <a:p>
            <a:pPr indent="0" marL="0">
              <a:buNone/>
            </a:pPr>
            <a:r>
              <a:rPr lang="en-US" sz="1600" b="1" dirty="0">
                <a:solidFill>
                  <a:schemeClr val="tx1"/>
                </a:solidFill>
              </a:rPr>
              <a:t>Edit-distance fallback for short words</a:t>
            </a:r>
            <a:endParaRPr lang="en-US" sz="1600" dirty="0"/>
          </a:p>
        </p:txBody>
      </p:sp>
      <p:sp>
        <p:nvSpPr>
          <p:cNvPr id="10" name="Rec 2 text"/>
          <p:cNvSpPr txBox="1"/>
          <p:nvPr/>
        </p:nvSpPr>
        <p:spPr>
          <a:xfrm>
            <a:off x="5532120" y="1737360"/>
            <a:ext cx="3108960" cy="777240"/>
          </a:xfrm>
          <a:prstGeom prst="rect">
            <a:avLst/>
          </a:prstGeom>
          <a:noFill/>
          <a:ln/>
        </p:spPr>
        <p:txBody>
          <a:bodyPr wrap="square" lIns="0" tIns="0" rIns="0" bIns="0" rtlCol="0" anchor="t"/>
          <a:lstStyle/>
          <a:p>
            <a:pPr indent="0" marL="0">
              <a:buNone/>
            </a:pPr>
            <a:r>
              <a:rPr lang="en-US" sz="1300" dirty="0">
                <a:solidFill>
                  <a:schemeClr val="tx2"/>
                </a:solidFill>
              </a:rPr>
              <a:t>Catches the typos that trigram similarity misses.</a:t>
            </a:r>
            <a:endParaRPr lang="en-US" sz="1300" dirty="0"/>
          </a:p>
        </p:txBody>
      </p:sp>
      <p:sp>
        <p:nvSpPr>
          <p:cNvPr id="11" name="Rec 3 circle"/>
          <p:cNvSpPr/>
          <p:nvPr/>
        </p:nvSpPr>
        <p:spPr>
          <a:xfrm>
            <a:off x="457200" y="2880360"/>
            <a:ext cx="685800" cy="685800"/>
          </a:xfrm>
          <a:prstGeom prst="ellipse">
            <a:avLst/>
          </a:prstGeom>
          <a:solidFill>
            <a:schemeClr val="accent2"/>
          </a:solidFill>
          <a:ln/>
        </p:spPr>
      </p:sp>
      <p:pic>
        <p:nvPicPr>
          <p:cNvPr id="12" name="Rec 3 icon" descr="preencoded.png">    </p:cNvPr>
          <p:cNvPicPr>
            <a:picLocks noChangeAspect="1"/>
          </p:cNvPicPr>
          <p:nvPr/>
        </p:nvPicPr>
        <p:blipFill>
          <a:blip r:embed="rId3"/>
          <a:stretch>
            <a:fillRect/>
          </a:stretch>
        </p:blipFill>
        <p:spPr>
          <a:xfrm>
            <a:off x="628650" y="3051810"/>
            <a:ext cx="342900" cy="342900"/>
          </a:xfrm>
          <a:prstGeom prst="rect">
            <a:avLst/>
          </a:prstGeom>
        </p:spPr>
      </p:pic>
      <p:sp>
        <p:nvSpPr>
          <p:cNvPr id="13" name="Rec 3 title"/>
          <p:cNvSpPr txBox="1"/>
          <p:nvPr/>
        </p:nvSpPr>
        <p:spPr>
          <a:xfrm>
            <a:off x="1325880" y="2862072"/>
            <a:ext cx="3108960" cy="594360"/>
          </a:xfrm>
          <a:prstGeom prst="rect">
            <a:avLst/>
          </a:prstGeom>
          <a:noFill/>
          <a:ln/>
        </p:spPr>
        <p:txBody>
          <a:bodyPr wrap="square" lIns="0" tIns="0" rIns="0" bIns="0" rtlCol="0" anchor="t"/>
          <a:lstStyle/>
          <a:p>
            <a:pPr indent="0" marL="0">
              <a:buNone/>
            </a:pPr>
            <a:r>
              <a:rPr lang="en-US" sz="1600" b="1" dirty="0">
                <a:solidFill>
                  <a:schemeClr val="tx1"/>
                </a:solidFill>
              </a:rPr>
              <a:t>Lighter expansion for website names</a:t>
            </a:r>
            <a:endParaRPr lang="en-US" sz="1600" dirty="0"/>
          </a:p>
        </p:txBody>
      </p:sp>
      <p:sp>
        <p:nvSpPr>
          <p:cNvPr id="14" name="Rec 3 text"/>
          <p:cNvSpPr txBox="1"/>
          <p:nvPr/>
        </p:nvSpPr>
        <p:spPr>
          <a:xfrm>
            <a:off x="1325880" y="3474720"/>
            <a:ext cx="3108960" cy="777240"/>
          </a:xfrm>
          <a:prstGeom prst="rect">
            <a:avLst/>
          </a:prstGeom>
          <a:noFill/>
          <a:ln/>
        </p:spPr>
        <p:txBody>
          <a:bodyPr wrap="square" lIns="0" tIns="0" rIns="0" bIns="0" rtlCol="0" anchor="t"/>
          <a:lstStyle/>
          <a:p>
            <a:pPr indent="0" marL="0">
              <a:buNone/>
            </a:pPr>
            <a:r>
              <a:rPr lang="en-US" sz="1300" dirty="0">
                <a:solidFill>
                  <a:schemeClr val="tx2"/>
                </a:solidFill>
              </a:rPr>
              <a:t>Stop “news” turning into samachar and khabar when the query is a site name.</a:t>
            </a:r>
            <a:endParaRPr lang="en-US" sz="1300" dirty="0"/>
          </a:p>
        </p:txBody>
      </p:sp>
      <p:sp>
        <p:nvSpPr>
          <p:cNvPr id="15" name="Rec 4 circle"/>
          <p:cNvSpPr/>
          <p:nvPr/>
        </p:nvSpPr>
        <p:spPr>
          <a:xfrm>
            <a:off x="4663440" y="2880360"/>
            <a:ext cx="685800" cy="685800"/>
          </a:xfrm>
          <a:prstGeom prst="ellipse">
            <a:avLst/>
          </a:prstGeom>
          <a:solidFill>
            <a:schemeClr val="accent2"/>
          </a:solidFill>
          <a:ln/>
        </p:spPr>
      </p:sp>
      <p:pic>
        <p:nvPicPr>
          <p:cNvPr id="16" name="Rec 4 icon" descr="preencoded.png">    </p:cNvPr>
          <p:cNvPicPr>
            <a:picLocks noChangeAspect="1"/>
          </p:cNvPicPr>
          <p:nvPr/>
        </p:nvPicPr>
        <p:blipFill>
          <a:blip r:embed="rId4"/>
          <a:stretch>
            <a:fillRect/>
          </a:stretch>
        </p:blipFill>
        <p:spPr>
          <a:xfrm>
            <a:off x="4834890" y="3051810"/>
            <a:ext cx="342900" cy="342900"/>
          </a:xfrm>
          <a:prstGeom prst="rect">
            <a:avLst/>
          </a:prstGeom>
        </p:spPr>
      </p:pic>
      <p:sp>
        <p:nvSpPr>
          <p:cNvPr id="17" name="Rec 4 title"/>
          <p:cNvSpPr txBox="1"/>
          <p:nvPr/>
        </p:nvSpPr>
        <p:spPr>
          <a:xfrm>
            <a:off x="5532120" y="2862072"/>
            <a:ext cx="3108960" cy="594360"/>
          </a:xfrm>
          <a:prstGeom prst="rect">
            <a:avLst/>
          </a:prstGeom>
          <a:noFill/>
          <a:ln/>
        </p:spPr>
        <p:txBody>
          <a:bodyPr wrap="square" lIns="0" tIns="0" rIns="0" bIns="0" rtlCol="0" anchor="t"/>
          <a:lstStyle/>
          <a:p>
            <a:pPr indent="0" marL="0">
              <a:buNone/>
            </a:pPr>
            <a:r>
              <a:rPr lang="en-US" sz="1600" b="1" dirty="0">
                <a:solidFill>
                  <a:schemeClr val="tx1"/>
                </a:solidFill>
              </a:rPr>
              <a:t>Evaluate with real queries</a:t>
            </a:r>
            <a:endParaRPr lang="en-US" sz="1600" dirty="0"/>
          </a:p>
        </p:txBody>
      </p:sp>
      <p:sp>
        <p:nvSpPr>
          <p:cNvPr id="18" name="Rec 4 text"/>
          <p:cNvSpPr txBox="1"/>
          <p:nvPr/>
        </p:nvSpPr>
        <p:spPr>
          <a:xfrm>
            <a:off x="5532120" y="3474720"/>
            <a:ext cx="3108960" cy="777240"/>
          </a:xfrm>
          <a:prstGeom prst="rect">
            <a:avLst/>
          </a:prstGeom>
          <a:noFill/>
          <a:ln/>
        </p:spPr>
        <p:txBody>
          <a:bodyPr wrap="square" lIns="0" tIns="0" rIns="0" bIns="0" rtlCol="0" anchor="t"/>
          <a:lstStyle/>
          <a:p>
            <a:pPr indent="0" marL="0">
              <a:buNone/>
            </a:pPr>
            <a:r>
              <a:rPr lang="en-US" sz="1300" dirty="0">
                <a:solidFill>
                  <a:schemeClr val="tx2"/>
                </a:solidFill>
              </a:rPr>
              <a:t>Use PGS search logs and human judgments, and index full page text.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Expansion and tuning make the difference</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1800" dirty="0">
                <a:solidFill>
                  <a:schemeClr val="bg2"/>
                </a:solidFill>
              </a:rPr>
              <a:t>Best model: BM25F + expansion, tuned — MAP 0.865, nDCG@10 0.889</a:t>
            </a:r>
            <a:endParaRPr lang="en-US" sz="1800" dirty="0"/>
          </a:p>
        </p:txBody>
      </p:sp>
      <p:sp>
        <p:nvSpPr>
          <p:cNvPr id="4" name="GitHub circle"/>
          <p:cNvSpPr/>
          <p:nvPr/>
        </p:nvSpPr>
        <p:spPr>
          <a:xfrm>
            <a:off x="548640" y="3794760"/>
            <a:ext cx="548640" cy="548640"/>
          </a:xfrm>
          <a:prstGeom prst="ellipse">
            <a:avLst/>
          </a:prstGeom>
          <a:solidFill>
            <a:schemeClr val="accent1"/>
          </a:solidFill>
          <a:ln/>
        </p:spPr>
      </p:sp>
      <p:pic>
        <p:nvPicPr>
          <p:cNvPr id="5" name="GitHub icon" descr="preencoded.png">    </p:cNvPr>
          <p:cNvPicPr>
            <a:picLocks noChangeAspect="1"/>
          </p:cNvPicPr>
          <p:nvPr/>
        </p:nvPicPr>
        <p:blipFill>
          <a:blip r:embed="rId1"/>
          <a:stretch>
            <a:fillRect/>
          </a:stretch>
        </p:blipFill>
        <p:spPr>
          <a:xfrm>
            <a:off x="685800" y="3931920"/>
            <a:ext cx="274320" cy="274320"/>
          </a:xfrm>
          <a:prstGeom prst="rect">
            <a:avLst/>
          </a:prstGeom>
        </p:spPr>
      </p:pic>
      <p:sp>
        <p:nvSpPr>
          <p:cNvPr id="6" name="GitHub link"/>
          <p:cNvSpPr txBox="1"/>
          <p:nvPr/>
        </p:nvSpPr>
        <p:spPr>
          <a:xfrm>
            <a:off x="1234440" y="3904488"/>
            <a:ext cx="6400800" cy="365760"/>
          </a:xfrm>
          <a:prstGeom prst="rect">
            <a:avLst/>
          </a:prstGeom>
          <a:noFill/>
          <a:ln/>
        </p:spPr>
        <p:txBody>
          <a:bodyPr wrap="square" lIns="0" tIns="0" rIns="0" bIns="0" rtlCol="0" anchor="t"/>
          <a:lstStyle/>
          <a:p>
            <a:pPr indent="0" marL="0">
              <a:buNone/>
            </a:pPr>
            <a:r>
              <a:rPr lang="en-US" sz="15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github.com/Prijesh77/pgs-ir-assignment</a:t>
            </a:r>
            <a:endParaRPr lang="en-US" sz="1500" dirty="0"/>
          </a:p>
        </p:txBody>
      </p:sp>
      <p:sp>
        <p:nvSpPr>
          <p:cNvPr id="7" name="Thanks"/>
          <p:cNvSpPr txBox="1"/>
          <p:nvPr/>
        </p:nvSpPr>
        <p:spPr>
          <a:xfrm>
            <a:off x="548640" y="548640"/>
            <a:ext cx="8046720" cy="457200"/>
          </a:xfrm>
          <a:prstGeom prst="rect">
            <a:avLst/>
          </a:prstGeom>
          <a:noFill/>
          <a:ln/>
        </p:spPr>
        <p:txBody>
          <a:bodyPr wrap="square" lIns="0" tIns="0" rIns="0" bIns="0" rtlCol="0" anchor="t"/>
          <a:lstStyle/>
          <a:p>
            <a:pPr indent="0" marL="0">
              <a:buNone/>
            </a:pPr>
            <a:r>
              <a:rPr lang="en-US" sz="1600" dirty="0">
                <a:solidFill>
                  <a:schemeClr val="bg2"/>
                </a:solidFill>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PGS Nepal">
      <a:dk1>
        <a:srgbClr val="0B1F3A"/>
      </a:dk1>
      <a:lt1>
        <a:srgbClr val="FFFFFF"/>
      </a:lt1>
      <a:dk2>
        <a:srgbClr val="334155"/>
      </a:dk2>
      <a:lt2>
        <a:srgbClr val="EEF2F7"/>
      </a:lt2>
      <a:accent1>
        <a:srgbClr val="C8102E"/>
      </a:accent1>
      <a:accent2>
        <a:srgbClr val="1F5FA8"/>
      </a:accent2>
      <a:accent3>
        <a:srgbClr val="0F8B7D"/>
      </a:accent3>
      <a:accent4>
        <a:srgbClr val="E0A100"/>
      </a:accent4>
      <a:accent5>
        <a:srgbClr val="64748B"/>
      </a:accent5>
      <a:accent6>
        <a:srgbClr val="7A1F3D"/>
      </a:accent6>
      <a:hlink>
        <a:srgbClr val="1F5FA8"/>
      </a:hlink>
      <a:folHlink>
        <a:srgbClr val="7A1F3D"/>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PGS Mini Search: Week 8 presentation</dc:title>
  <dc:subject>PptxGenJS Presentation</dc:subject>
  <dc:creator>Prijesh</dc:creator>
  <cp:lastModifiedBy>Prijesh</cp:lastModifiedBy>
  <cp:revision>1</cp:revision>
  <dcterms:created xsi:type="dcterms:W3CDTF">2026-10-12T16:48:16Z</dcterms:created>
  <dcterms:modified xsi:type="dcterms:W3CDTF">2026-10-12T16:48:16Z</dcterms:modified>
</cp:coreProperties>
</file>